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116" d="100"/>
          <a:sy n="116" d="100"/>
        </p:scale>
        <p:origin x="336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6" Type="http://schemas.openxmlformats.org/officeDocument/2006/relationships/tableStyles" Target="tableStyles.xml"/><Relationship Id="rId5" Type="http://schemas.openxmlformats.org/officeDocument/2006/relationships/viewProps" Target="viewProps.xml"/><Relationship Id="rId4" Type="http://schemas.openxmlformats.org/officeDocument/2006/relationships/presProps" Target="presProps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4.png"/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3" name="图片 2" descr="image-J142-H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832985" y="2996565"/>
            <a:ext cx="2853578" cy="1425600"/>
          </a:xfrm>
          <a:prstGeom prst="rect">
            <a:avLst/>
          </a:prstGeom>
        </p:spPr>
      </p:pic>
      <p:pic>
        <p:nvPicPr>
          <p:cNvPr id="2" name="图片 1" descr="image-J68-H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99660" y="1121410"/>
            <a:ext cx="2854960" cy="1426210"/>
          </a:xfrm>
          <a:prstGeom prst="rect">
            <a:avLst/>
          </a:prstGeom>
        </p:spPr>
      </p:pic>
      <p:sp>
        <p:nvSpPr>
          <p:cNvPr id="54" name="文本框 53"/>
          <p:cNvSpPr txBox="1"/>
          <p:nvPr/>
        </p:nvSpPr>
        <p:spPr>
          <a:xfrm>
            <a:off x="4967605" y="886460"/>
            <a:ext cx="1279525" cy="234950"/>
          </a:xfrm>
          <a:prstGeom prst="rect">
            <a:avLst/>
          </a:prstGeom>
        </p:spPr>
        <p:txBody>
          <a:bodyPr wrap="square">
            <a:noAutofit/>
            <a:extLst>
              <a:ext uri="{4A0BC546-FE56-4ADE-93B0-CB8AF2F6F144}">
                <wpsdc:textFrameExt xmlns:wpsdc="http://www.wps.cn/officeDocument/2022/drawingmlCustomData" type="text"/>
              </a:ext>
            </a:extLst>
          </a:bodyPr>
          <a:p>
            <a:pPr algn="r"/>
            <a:r>
              <a:rPr lang="en-US" altLang="zh-CN" sz="800">
                <a:latin typeface="Arial" panose="020B0604020202020204" pitchFamily="34" charset="0"/>
                <a:ea typeface="微软雅黑" panose="020B0503020204020204" charset="-122"/>
              </a:rPr>
              <a:t>2*Hetero refinement</a:t>
            </a:r>
            <a:endParaRPr lang="en-US" altLang="zh-CN" sz="800">
              <a:latin typeface="Arial" panose="020B0604020202020204" pitchFamily="34" charset="0"/>
              <a:ea typeface="微软雅黑" panose="020B0503020204020204" charset="-122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4218305" y="575310"/>
            <a:ext cx="1292860" cy="172720"/>
          </a:xfrm>
          <a:prstGeom prst="rect">
            <a:avLst/>
          </a:prstGeom>
        </p:spPr>
        <p:txBody>
          <a:bodyPr wrap="square">
            <a:noAutofit/>
            <a:extLst>
              <a:ext uri="{4A0BC546-FE56-4ADE-93B0-CB8AF2F6F144}">
                <wpsdc:textFrameExt xmlns:wpsdc="http://www.wps.cn/officeDocument/2022/drawingmlCustomData" type="text"/>
              </a:ext>
            </a:extLst>
          </a:bodyPr>
          <a:p>
            <a:pPr algn="ctr"/>
            <a:r>
              <a:rPr lang="en-US" altLang="zh-CN" sz="800">
                <a:latin typeface="Arial" panose="020B0604020202020204" pitchFamily="34" charset="0"/>
                <a:ea typeface="微软雅黑" panose="020B0503020204020204" charset="-122"/>
              </a:rPr>
              <a:t>14,482 Micrographs</a:t>
            </a:r>
            <a:endParaRPr lang="en-US" altLang="zh-CN" sz="800">
              <a:latin typeface="Arial" panose="020B0604020202020204" pitchFamily="34" charset="0"/>
              <a:ea typeface="微软雅黑" panose="020B0503020204020204" charset="-122"/>
            </a:endParaRPr>
          </a:p>
        </p:txBody>
      </p:sp>
      <p:sp>
        <p:nvSpPr>
          <p:cNvPr id="27" name="矩形 26"/>
          <p:cNvSpPr/>
          <p:nvPr/>
        </p:nvSpPr>
        <p:spPr>
          <a:xfrm>
            <a:off x="6928485" y="1268730"/>
            <a:ext cx="826135" cy="116332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cxnSp>
        <p:nvCxnSpPr>
          <p:cNvPr id="18" name="直接箭头连接符 17"/>
          <p:cNvCxnSpPr/>
          <p:nvPr/>
        </p:nvCxnSpPr>
        <p:spPr>
          <a:xfrm flipH="1">
            <a:off x="6312637" y="2752528"/>
            <a:ext cx="3175" cy="36000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文本框 47"/>
          <p:cNvSpPr txBox="1"/>
          <p:nvPr/>
        </p:nvSpPr>
        <p:spPr>
          <a:xfrm>
            <a:off x="5902211" y="2386649"/>
            <a:ext cx="866140" cy="33718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pPr algn="ctr"/>
            <a:r>
              <a:rPr lang="en-US" altLang="zh-CN" sz="800" dirty="0">
                <a:latin typeface="Arial" panose="020B0604020202020204" pitchFamily="34" charset="0"/>
                <a:cs typeface="Arial" panose="020B0604020202020204" pitchFamily="34" charset="0"/>
              </a:rPr>
              <a:t>32.9%</a:t>
            </a:r>
            <a:endParaRPr lang="en-US" altLang="zh-CN" sz="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r>
              <a:rPr lang="en-US" altLang="zh-CN" sz="800" dirty="0">
                <a:latin typeface="Arial" panose="020B0604020202020204" pitchFamily="34" charset="0"/>
                <a:cs typeface="Arial" panose="020B0604020202020204" pitchFamily="34" charset="0"/>
              </a:rPr>
              <a:t>1638k particles</a:t>
            </a:r>
            <a:endParaRPr lang="en-US" altLang="zh-CN" sz="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4" name="文本框 33"/>
          <p:cNvSpPr txBox="1"/>
          <p:nvPr/>
        </p:nvSpPr>
        <p:spPr>
          <a:xfrm>
            <a:off x="4765675" y="2797175"/>
            <a:ext cx="1479550" cy="187960"/>
          </a:xfrm>
          <a:prstGeom prst="rect">
            <a:avLst/>
          </a:prstGeom>
        </p:spPr>
        <p:txBody>
          <a:bodyPr wrap="square">
            <a:noAutofit/>
            <a:extLst>
              <a:ext uri="{4A0BC546-FE56-4ADE-93B0-CB8AF2F6F144}">
                <wpsdc:textFrameExt xmlns:wpsdc="http://www.wps.cn/officeDocument/2022/drawingmlCustomData" type="text"/>
              </a:ext>
            </a:extLst>
          </a:bodyPr>
          <a:p>
            <a:pPr algn="r"/>
            <a:r>
              <a:rPr lang="en-US" altLang="zh-CN" sz="800">
                <a:latin typeface="Arial" panose="020B0604020202020204" pitchFamily="34" charset="0"/>
                <a:ea typeface="微软雅黑" panose="020B0503020204020204" charset="-122"/>
                <a:sym typeface="+mn-ea"/>
              </a:rPr>
              <a:t>Hetero refinement</a:t>
            </a:r>
            <a:endParaRPr lang="en-US" altLang="zh-CN" sz="800">
              <a:latin typeface="Arial" panose="020B0604020202020204" pitchFamily="34" charset="0"/>
              <a:ea typeface="微软雅黑" panose="020B0503020204020204" charset="-122"/>
            </a:endParaRPr>
          </a:p>
          <a:p>
            <a:pPr algn="r"/>
            <a:endParaRPr lang="en-US" altLang="zh-CN" sz="800">
              <a:latin typeface="Arial" panose="020B0604020202020204" pitchFamily="34" charset="0"/>
              <a:ea typeface="微软雅黑" panose="020B0503020204020204" charset="-122"/>
            </a:endParaRPr>
          </a:p>
        </p:txBody>
      </p:sp>
      <p:sp>
        <p:nvSpPr>
          <p:cNvPr id="41" name="文本框 40"/>
          <p:cNvSpPr txBox="1"/>
          <p:nvPr/>
        </p:nvSpPr>
        <p:spPr>
          <a:xfrm>
            <a:off x="5189855" y="409575"/>
            <a:ext cx="698500" cy="233045"/>
          </a:xfrm>
          <a:prstGeom prst="rect">
            <a:avLst/>
          </a:prstGeom>
        </p:spPr>
        <p:txBody>
          <a:bodyPr wrap="square">
            <a:noAutofit/>
            <a:extLst>
              <a:ext uri="{4A0BC546-FE56-4ADE-93B0-CB8AF2F6F144}">
                <wpsdc:textFrameExt xmlns:wpsdc="http://www.wps.cn/officeDocument/2022/drawingmlCustomData" type="text"/>
              </a:ext>
            </a:extLst>
          </a:bodyPr>
          <a:p>
            <a:pPr algn="r"/>
            <a:r>
              <a:rPr lang="en-US" altLang="zh-CN" sz="800">
                <a:latin typeface="Arial" panose="020B0604020202020204" pitchFamily="34" charset="0"/>
                <a:ea typeface="微软雅黑" panose="020B0503020204020204" charset="-122"/>
              </a:rPr>
              <a:t>Auto pick </a:t>
            </a:r>
            <a:endParaRPr lang="en-US" altLang="zh-CN" sz="800">
              <a:latin typeface="Arial" panose="020B0604020202020204" pitchFamily="34" charset="0"/>
              <a:ea typeface="微软雅黑" panose="020B0503020204020204" charset="-122"/>
            </a:endParaRPr>
          </a:p>
        </p:txBody>
      </p:sp>
      <p:sp>
        <p:nvSpPr>
          <p:cNvPr id="42" name="文本框 41"/>
          <p:cNvSpPr txBox="1"/>
          <p:nvPr/>
        </p:nvSpPr>
        <p:spPr>
          <a:xfrm>
            <a:off x="5790565" y="575310"/>
            <a:ext cx="1044575" cy="233045"/>
          </a:xfrm>
          <a:prstGeom prst="rect">
            <a:avLst/>
          </a:prstGeom>
        </p:spPr>
        <p:txBody>
          <a:bodyPr wrap="square">
            <a:noAutofit/>
            <a:extLst>
              <a:ext uri="{4A0BC546-FE56-4ADE-93B0-CB8AF2F6F144}">
                <wpsdc:textFrameExt xmlns:wpsdc="http://www.wps.cn/officeDocument/2022/drawingmlCustomData" type="text"/>
              </a:ext>
            </a:extLst>
          </a:bodyPr>
          <a:p>
            <a:pPr algn="ctr"/>
            <a:r>
              <a:rPr lang="en-US" altLang="zh-CN" sz="800">
                <a:latin typeface="Arial" panose="020B0604020202020204" pitchFamily="34" charset="0"/>
                <a:ea typeface="微软雅黑" panose="020B0503020204020204" charset="-122"/>
              </a:rPr>
              <a:t>4980K particles </a:t>
            </a:r>
            <a:endParaRPr lang="en-US" altLang="zh-CN" sz="800">
              <a:latin typeface="Arial" panose="020B0604020202020204" pitchFamily="34" charset="0"/>
              <a:ea typeface="微软雅黑" panose="020B0503020204020204" charset="-122"/>
            </a:endParaRPr>
          </a:p>
        </p:txBody>
      </p:sp>
      <p:cxnSp>
        <p:nvCxnSpPr>
          <p:cNvPr id="55" name="直接箭头连接符 54"/>
          <p:cNvCxnSpPr/>
          <p:nvPr/>
        </p:nvCxnSpPr>
        <p:spPr>
          <a:xfrm rot="10800000" flipV="1">
            <a:off x="6312637" y="862768"/>
            <a:ext cx="635" cy="36000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接箭头连接符 12"/>
          <p:cNvCxnSpPr/>
          <p:nvPr/>
        </p:nvCxnSpPr>
        <p:spPr>
          <a:xfrm rot="16200000" flipH="1">
            <a:off x="5577307" y="502088"/>
            <a:ext cx="635" cy="36000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文本框 20"/>
          <p:cNvSpPr txBox="1"/>
          <p:nvPr/>
        </p:nvSpPr>
        <p:spPr>
          <a:xfrm>
            <a:off x="4762500" y="4485640"/>
            <a:ext cx="1479550" cy="187960"/>
          </a:xfrm>
          <a:prstGeom prst="rect">
            <a:avLst/>
          </a:prstGeom>
        </p:spPr>
        <p:txBody>
          <a:bodyPr wrap="square">
            <a:noAutofit/>
            <a:extLst>
              <a:ext uri="{4A0BC546-FE56-4ADE-93B0-CB8AF2F6F144}">
                <wpsdc:textFrameExt xmlns:wpsdc="http://www.wps.cn/officeDocument/2022/drawingmlCustomData" type="text"/>
              </a:ext>
            </a:extLst>
          </a:bodyPr>
          <a:p>
            <a:pPr algn="r"/>
            <a:r>
              <a:rPr lang="en-US" altLang="zh-CN" sz="800">
                <a:latin typeface="Arial" panose="020B0604020202020204" pitchFamily="34" charset="0"/>
                <a:ea typeface="微软雅黑" panose="020B0503020204020204" charset="-122"/>
                <a:sym typeface="+mn-ea"/>
              </a:rPr>
              <a:t>Non-uniform refinement</a:t>
            </a:r>
            <a:endParaRPr lang="en-US" altLang="zh-CN" sz="800">
              <a:latin typeface="Arial" panose="020B0604020202020204" pitchFamily="34" charset="0"/>
              <a:ea typeface="微软雅黑" panose="020B0503020204020204" charset="-122"/>
            </a:endParaRPr>
          </a:p>
        </p:txBody>
      </p:sp>
      <p:cxnSp>
        <p:nvCxnSpPr>
          <p:cNvPr id="15" name="直接箭头连接符 14"/>
          <p:cNvCxnSpPr/>
          <p:nvPr/>
        </p:nvCxnSpPr>
        <p:spPr>
          <a:xfrm flipV="1">
            <a:off x="5757670" y="5638580"/>
            <a:ext cx="824865" cy="15875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文本框 15"/>
          <p:cNvSpPr txBox="1"/>
          <p:nvPr/>
        </p:nvSpPr>
        <p:spPr>
          <a:xfrm>
            <a:off x="5397500" y="5739130"/>
            <a:ext cx="1479550" cy="187960"/>
          </a:xfrm>
          <a:prstGeom prst="rect">
            <a:avLst/>
          </a:prstGeom>
        </p:spPr>
        <p:txBody>
          <a:bodyPr wrap="square">
            <a:noAutofit/>
            <a:extLst>
              <a:ext uri="{4A0BC546-FE56-4ADE-93B0-CB8AF2F6F144}">
                <wpsdc:textFrameExt xmlns:wpsdc="http://www.wps.cn/officeDocument/2022/drawingmlCustomData" type="text"/>
              </a:ext>
            </a:extLst>
          </a:bodyPr>
          <a:p>
            <a:pPr algn="ctr"/>
            <a:r>
              <a:rPr lang="en-US" altLang="zh-CN" sz="800">
                <a:latin typeface="Arial" panose="020B0604020202020204" pitchFamily="34" charset="0"/>
                <a:ea typeface="微软雅黑" panose="020B0503020204020204" charset="-122"/>
              </a:rPr>
              <a:t>DeepEMhancer</a:t>
            </a:r>
            <a:endParaRPr lang="en-US" altLang="zh-CN" sz="800">
              <a:latin typeface="Arial" panose="020B0604020202020204" pitchFamily="34" charset="0"/>
              <a:ea typeface="微软雅黑" panose="020B0503020204020204" charset="-122"/>
            </a:endParaRPr>
          </a:p>
        </p:txBody>
      </p:sp>
      <p:cxnSp>
        <p:nvCxnSpPr>
          <p:cNvPr id="22" name="肘形连接符 21"/>
          <p:cNvCxnSpPr>
            <a:stCxn id="23" idx="2"/>
            <a:endCxn id="14" idx="0"/>
          </p:cNvCxnSpPr>
          <p:nvPr/>
        </p:nvCxnSpPr>
        <p:spPr>
          <a:xfrm rot="5400000">
            <a:off x="5500053" y="4178618"/>
            <a:ext cx="546100" cy="1124585"/>
          </a:xfrm>
          <a:prstGeom prst="bentConnector3">
            <a:avLst>
              <a:gd name="adj1" fmla="val 49942"/>
            </a:avLst>
          </a:prstGeom>
          <a:ln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23" name="文本框 22"/>
          <p:cNvSpPr txBox="1"/>
          <p:nvPr/>
        </p:nvSpPr>
        <p:spPr>
          <a:xfrm>
            <a:off x="5930468" y="4130359"/>
            <a:ext cx="809625" cy="33718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pPr algn="ctr"/>
            <a:r>
              <a:rPr lang="en-US" altLang="zh-CN" sz="800" dirty="0">
                <a:latin typeface="Arial" panose="020B0604020202020204" pitchFamily="34" charset="0"/>
                <a:cs typeface="Arial" panose="020B0604020202020204" pitchFamily="34" charset="0"/>
              </a:rPr>
              <a:t>26.3%</a:t>
            </a:r>
            <a:endParaRPr lang="en-US" altLang="zh-CN" sz="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r>
              <a:rPr lang="en-US" altLang="zh-CN" sz="800" dirty="0">
                <a:latin typeface="Arial" panose="020B0604020202020204" pitchFamily="34" charset="0"/>
                <a:cs typeface="Arial" panose="020B0604020202020204" pitchFamily="34" charset="0"/>
              </a:rPr>
              <a:t>431k particles</a:t>
            </a:r>
            <a:endParaRPr lang="en-US" altLang="zh-CN" sz="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5" name="文本框 24"/>
          <p:cNvSpPr txBox="1"/>
          <p:nvPr/>
        </p:nvSpPr>
        <p:spPr>
          <a:xfrm>
            <a:off x="4867477" y="6334444"/>
            <a:ext cx="634365" cy="21399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pPr algn="ctr"/>
            <a:r>
              <a:rPr lang="en-US" altLang="zh-CN" sz="800" dirty="0">
                <a:latin typeface="Arial" panose="020B0604020202020204" pitchFamily="34" charset="0"/>
                <a:cs typeface="Arial" panose="020B0604020202020204" pitchFamily="34" charset="0"/>
              </a:rPr>
              <a:t>C1, </a:t>
            </a:r>
            <a:r>
              <a:rPr lang="zh-CN" altLang="en-US" sz="800" dirty="0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3.</a:t>
            </a:r>
            <a:r>
              <a:rPr lang="en-US" altLang="zh-CN" sz="800" dirty="0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46</a:t>
            </a:r>
            <a:r>
              <a:rPr lang="zh-CN" altLang="en-US" sz="800" dirty="0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Å</a:t>
            </a:r>
            <a:endParaRPr lang="en-US" altLang="zh-CN" sz="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矩形 8"/>
          <p:cNvSpPr/>
          <p:nvPr/>
        </p:nvSpPr>
        <p:spPr>
          <a:xfrm>
            <a:off x="4776470" y="3112770"/>
            <a:ext cx="826135" cy="116332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14" name="图片 13" descr="image-J174"/>
          <p:cNvPicPr>
            <a:picLocks noChangeAspect="1"/>
          </p:cNvPicPr>
          <p:nvPr/>
        </p:nvPicPr>
        <p:blipFill>
          <a:blip r:embed="rId3"/>
          <a:srcRect l="34077" t="8213" r="34518" b="5778"/>
          <a:stretch>
            <a:fillRect/>
          </a:stretch>
        </p:blipFill>
        <p:spPr>
          <a:xfrm>
            <a:off x="4789170" y="5013960"/>
            <a:ext cx="843280" cy="1357630"/>
          </a:xfrm>
          <a:prstGeom prst="rect">
            <a:avLst/>
          </a:prstGeom>
        </p:spPr>
      </p:pic>
      <p:pic>
        <p:nvPicPr>
          <p:cNvPr id="17" name="图片 16" descr="image-J175"/>
          <p:cNvPicPr>
            <a:picLocks noChangeAspect="1"/>
          </p:cNvPicPr>
          <p:nvPr/>
        </p:nvPicPr>
        <p:blipFill>
          <a:blip r:embed="rId4"/>
          <a:srcRect l="28962" r="34681"/>
          <a:stretch>
            <a:fillRect/>
          </a:stretch>
        </p:blipFill>
        <p:spPr>
          <a:xfrm flipH="1">
            <a:off x="6616065" y="4829175"/>
            <a:ext cx="1031240" cy="167005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162</Words>
  <Application>WPS 演示</Application>
  <PresentationFormat>宽屏</PresentationFormat>
  <Paragraphs>23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8" baseType="lpstr">
      <vt:lpstr>Arial</vt:lpstr>
      <vt:lpstr>宋体</vt:lpstr>
      <vt:lpstr>Wingdings</vt:lpstr>
      <vt:lpstr>微软雅黑</vt:lpstr>
      <vt:lpstr>Calibri</vt:lpstr>
      <vt:lpstr>Arial Unicode MS</vt:lpstr>
      <vt:lpstr>WPS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lijing</dc:creator>
  <cp:lastModifiedBy>李京</cp:lastModifiedBy>
  <cp:revision>10</cp:revision>
  <dcterms:created xsi:type="dcterms:W3CDTF">2023-08-09T12:44:00Z</dcterms:created>
  <dcterms:modified xsi:type="dcterms:W3CDTF">2025-06-17T10:25:01Z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2052-12.1.0.21541</vt:lpwstr>
  </property>
  <property fmtid="{D5CDD505-2E9C-101B-9397-08002B2CF9AE}" pid="3" name="ICV">
    <vt:lpwstr>747CB1F9C3D04DF98EC1F86A5AC7942A_12</vt:lpwstr>
  </property>
</Properties>
</file>