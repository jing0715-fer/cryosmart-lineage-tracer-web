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6858000" cy="9144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>
          <a:latin typeface="Arial"/>
          <a:ea typeface="微软雅黑"/>
        </a:defRPr>
      </a:lvl1pPr>
    </p:titleStyle>
    <p:bodyStyle>
      <a:lvl1pPr>
        <a:defRPr sz="1800">
          <a:latin typeface="Arial"/>
          <a:ea typeface="微软雅黑"/>
        </a:defRPr>
      </a:lvl1pPr>
    </p:bodyStyle>
    <p:otherStyle>
      <a:lvl1pPr>
        <a:defRPr sz="1200">
          <a:latin typeface="Arial"/>
          <a:ea typeface="微软雅黑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640994" y="502920"/>
            <a:ext cx="1221638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14,404 Micrographs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3" name="文本框 3"/>
          <p:cNvSpPr txBox="1"/>
          <p:nvPr/>
        </p:nvSpPr>
        <p:spPr>
          <a:xfrm>
            <a:off x="2027225" y="338328"/>
            <a:ext cx="711403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Auto pick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4" name="文本框 4"/>
          <p:cNvSpPr txBox="1"/>
          <p:nvPr/>
        </p:nvSpPr>
        <p:spPr>
          <a:xfrm>
            <a:off x="2903220" y="502920"/>
            <a:ext cx="105156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4812K particles</a:t>
            </a:r>
            <a:endParaRPr lang="zh-CN" altLang="en-US" sz="800">
              <a:latin typeface="Arial"/>
              <a:ea typeface="微软雅黑"/>
            </a:endParaRPr>
          </a:p>
        </p:txBody>
      </p:sp>
      <p:cxnSp>
        <p:nvCxnSpPr>
          <p:cNvPr id="5" name="直接箭头连接符 5"/>
          <p:cNvCxnSpPr/>
          <p:nvPr/>
        </p:nvCxnSpPr>
        <p:spPr>
          <a:xfrm>
            <a:off x="3429000" y="758952"/>
            <a:ext cx="0" cy="356616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6" name="直接箭头连接符 6"/>
          <p:cNvCxnSpPr/>
          <p:nvPr/>
        </p:nvCxnSpPr>
        <p:spPr>
          <a:xfrm>
            <a:off x="3429000" y="1978152"/>
            <a:ext cx="0" cy="356616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sp>
        <p:nvSpPr>
          <p:cNvPr id="7" name="文本框 7"/>
          <p:cNvSpPr txBox="1"/>
          <p:nvPr/>
        </p:nvSpPr>
        <p:spPr>
          <a:xfrm>
            <a:off x="2847442" y="1630680"/>
            <a:ext cx="1163117" cy="3383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0.4%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17,887 particles</a:t>
            </a:r>
            <a:endParaRPr lang="zh-CN" altLang="en-US" sz="800">
              <a:latin typeface="Arial"/>
              <a:ea typeface="微软雅黑"/>
            </a:endParaRPr>
          </a:p>
        </p:txBody>
      </p:sp>
      <p:cxnSp>
        <p:nvCxnSpPr>
          <p:cNvPr id="8" name="直接箭头连接符 8"/>
          <p:cNvCxnSpPr/>
          <p:nvPr/>
        </p:nvCxnSpPr>
        <p:spPr>
          <a:xfrm>
            <a:off x="3429000" y="3444240"/>
            <a:ext cx="0" cy="356616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sp>
        <p:nvSpPr>
          <p:cNvPr id="9" name="文本框 9"/>
          <p:cNvSpPr txBox="1"/>
          <p:nvPr/>
        </p:nvSpPr>
        <p:spPr>
          <a:xfrm>
            <a:off x="2847442" y="3096768"/>
            <a:ext cx="1163117" cy="3383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43,977 particles</a:t>
            </a:r>
            <a:endParaRPr lang="zh-CN" altLang="en-US" sz="800">
              <a:latin typeface="Arial"/>
              <a:ea typeface="微软雅黑"/>
            </a:endParaRPr>
          </a:p>
        </p:txBody>
      </p:sp>
      <p:cxnSp>
        <p:nvCxnSpPr>
          <p:cNvPr id="10" name="直接箭头连接符 10"/>
          <p:cNvCxnSpPr/>
          <p:nvPr/>
        </p:nvCxnSpPr>
        <p:spPr>
          <a:xfrm>
            <a:off x="3429000" y="4910328"/>
            <a:ext cx="0" cy="356616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sp>
        <p:nvSpPr>
          <p:cNvPr id="11" name="文本框 11"/>
          <p:cNvSpPr txBox="1"/>
          <p:nvPr/>
        </p:nvSpPr>
        <p:spPr>
          <a:xfrm>
            <a:off x="2762402" y="4562856"/>
            <a:ext cx="1333195" cy="3383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2,084,655 particles</a:t>
            </a:r>
            <a:endParaRPr lang="zh-CN" altLang="en-US" sz="800">
              <a:latin typeface="Arial"/>
              <a:ea typeface="微软雅黑"/>
            </a:endParaRPr>
          </a:p>
        </p:txBody>
      </p:sp>
      <p:cxnSp>
        <p:nvCxnSpPr>
          <p:cNvPr id="12" name="直接箭头连接符 12"/>
          <p:cNvCxnSpPr/>
          <p:nvPr/>
        </p:nvCxnSpPr>
        <p:spPr>
          <a:xfrm>
            <a:off x="3429000" y="6111240"/>
            <a:ext cx="0" cy="356616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sp>
        <p:nvSpPr>
          <p:cNvPr id="13" name="文本框 13"/>
          <p:cNvSpPr txBox="1"/>
          <p:nvPr/>
        </p:nvSpPr>
        <p:spPr>
          <a:xfrm>
            <a:off x="2298802" y="905256"/>
            <a:ext cx="106619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Hetero refinement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4" name="矩形 14"/>
          <p:cNvSpPr/>
          <p:nvPr/>
        </p:nvSpPr>
        <p:spPr>
          <a:xfrm>
            <a:off x="2950464" y="1143000"/>
            <a:ext cx="957072" cy="515112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5"/>
          <p:cNvSpPr txBox="1"/>
          <p:nvPr/>
        </p:nvSpPr>
        <p:spPr>
          <a:xfrm>
            <a:off x="2471928" y="2353056"/>
            <a:ext cx="883920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Import Volumes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6" name="文本框 16"/>
          <p:cNvSpPr txBox="1"/>
          <p:nvPr/>
        </p:nvSpPr>
        <p:spPr>
          <a:xfrm>
            <a:off x="3502152" y="2353056"/>
            <a:ext cx="883920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Non-uniform refinement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7" name="文本框 17"/>
          <p:cNvSpPr txBox="1"/>
          <p:nvPr/>
        </p:nvSpPr>
        <p:spPr>
          <a:xfrm>
            <a:off x="2471928" y="3819144"/>
            <a:ext cx="883920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Import Volumes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8" name="文本框 18"/>
          <p:cNvSpPr txBox="1"/>
          <p:nvPr/>
        </p:nvSpPr>
        <p:spPr>
          <a:xfrm>
            <a:off x="3502152" y="3819144"/>
            <a:ext cx="883920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Local refinement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9" name="文本框 19"/>
          <p:cNvSpPr txBox="1"/>
          <p:nvPr/>
        </p:nvSpPr>
        <p:spPr>
          <a:xfrm>
            <a:off x="411480" y="5285232"/>
            <a:ext cx="3974592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Hetero refinement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20" name="文本框 20"/>
          <p:cNvSpPr txBox="1"/>
          <p:nvPr/>
        </p:nvSpPr>
        <p:spPr>
          <a:xfrm>
            <a:off x="4532376" y="5285232"/>
            <a:ext cx="883920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Non-uniform refinement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21" name="文本框 21"/>
          <p:cNvSpPr txBox="1"/>
          <p:nvPr/>
        </p:nvSpPr>
        <p:spPr>
          <a:xfrm>
            <a:off x="5562600" y="5285232"/>
            <a:ext cx="883920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Non-uniform refinement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22" name="文本框 22"/>
          <p:cNvSpPr txBox="1"/>
          <p:nvPr/>
        </p:nvSpPr>
        <p:spPr>
          <a:xfrm>
            <a:off x="2563978" y="6202680"/>
            <a:ext cx="801014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DeepEMhancer</a:t>
            </a:r>
            <a:endParaRPr lang="zh-CN" altLang="en-US" sz="800">
              <a:latin typeface="Arial"/>
              <a:ea typeface="微软雅黑"/>
            </a:endParaRPr>
          </a:p>
        </p:txBody>
      </p:sp>
      <p:pic>
        <p:nvPicPr>
          <p:cNvPr id="23" name="CryoSmartImage:J15/volume_class_0" descr="image-J15_volume_class_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816" y="1179576"/>
            <a:ext cx="883920" cy="441960"/>
          </a:xfrm>
          <a:prstGeom prst="rect">
            <a:avLst/>
          </a:prstGeom>
        </p:spPr>
      </p:pic>
      <p:pic>
        <p:nvPicPr>
          <p:cNvPr id="24" name="CryoSmartImage:J15/volume_class_1" descr="image-J15_volume_class_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040" y="1179576"/>
            <a:ext cx="883920" cy="441960"/>
          </a:xfrm>
          <a:prstGeom prst="rect">
            <a:avLst/>
          </a:prstGeom>
        </p:spPr>
      </p:pic>
      <p:pic>
        <p:nvPicPr>
          <p:cNvPr id="25" name="CryoSmartImage:J15/volume_class_2" descr="image-J15_volume_class_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7264" y="1179576"/>
            <a:ext cx="883920" cy="441960"/>
          </a:xfrm>
          <a:prstGeom prst="rect">
            <a:avLst/>
          </a:prstGeom>
        </p:spPr>
      </p:pic>
      <p:pic>
        <p:nvPicPr>
          <p:cNvPr id="26" name="CryoSmartImage:J35/imported_volume_1" descr="image-J3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1928" y="2645664"/>
            <a:ext cx="883920" cy="441960"/>
          </a:xfrm>
          <a:prstGeom prst="rect">
            <a:avLst/>
          </a:prstGeom>
        </p:spPr>
      </p:pic>
      <p:pic>
        <p:nvPicPr>
          <p:cNvPr id="27" name="CryoSmartImage:J116/volume" descr="image-J1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2152" y="2645664"/>
            <a:ext cx="883920" cy="441960"/>
          </a:xfrm>
          <a:prstGeom prst="rect">
            <a:avLst/>
          </a:prstGeom>
        </p:spPr>
      </p:pic>
      <p:pic>
        <p:nvPicPr>
          <p:cNvPr id="28" name="CryoSmartImage:J38/imported_volume_1" descr="image-J3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1928" y="4111752"/>
            <a:ext cx="883920" cy="441960"/>
          </a:xfrm>
          <a:prstGeom prst="rect">
            <a:avLst/>
          </a:prstGeom>
        </p:spPr>
      </p:pic>
      <p:pic>
        <p:nvPicPr>
          <p:cNvPr id="29" name="CryoSmartImage:J168/volume" descr="image-J16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2152" y="4111752"/>
            <a:ext cx="883920" cy="441960"/>
          </a:xfrm>
          <a:prstGeom prst="rect">
            <a:avLst/>
          </a:prstGeom>
        </p:spPr>
      </p:pic>
      <p:pic>
        <p:nvPicPr>
          <p:cNvPr id="30" name="CryoSmartImage:J179/volume_class_0" descr="image-J179_volume_class_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480" y="5577840"/>
            <a:ext cx="883920" cy="441960"/>
          </a:xfrm>
          <a:prstGeom prst="rect">
            <a:avLst/>
          </a:prstGeom>
        </p:spPr>
      </p:pic>
      <p:pic>
        <p:nvPicPr>
          <p:cNvPr id="31" name="CryoSmartImage:J179/volume_class_1" descr="image-J179_volume_class_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1704" y="5577840"/>
            <a:ext cx="883920" cy="441960"/>
          </a:xfrm>
          <a:prstGeom prst="rect">
            <a:avLst/>
          </a:prstGeom>
        </p:spPr>
      </p:pic>
      <p:pic>
        <p:nvPicPr>
          <p:cNvPr id="32" name="CryoSmartImage:J179/volume_class_2" descr="image-J179_volume_class_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71928" y="5577840"/>
            <a:ext cx="883920" cy="441960"/>
          </a:xfrm>
          <a:prstGeom prst="rect">
            <a:avLst/>
          </a:prstGeom>
        </p:spPr>
      </p:pic>
      <p:pic>
        <p:nvPicPr>
          <p:cNvPr id="33" name="CryoSmartImage:J179/volume_class_3" descr="image-J179_volume_class_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02152" y="5577840"/>
            <a:ext cx="883920" cy="441960"/>
          </a:xfrm>
          <a:prstGeom prst="rect">
            <a:avLst/>
          </a:prstGeom>
        </p:spPr>
      </p:pic>
      <p:pic>
        <p:nvPicPr>
          <p:cNvPr id="34" name="CryoSmartImage:J136/volume" descr="image-J13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32376" y="5577840"/>
            <a:ext cx="883920" cy="441960"/>
          </a:xfrm>
          <a:prstGeom prst="rect">
            <a:avLst/>
          </a:prstGeom>
        </p:spPr>
      </p:pic>
      <p:pic>
        <p:nvPicPr>
          <p:cNvPr id="35" name="CryoSmartImage:J250/volume" descr="image-J25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62600" y="5577840"/>
            <a:ext cx="883920" cy="441960"/>
          </a:xfrm>
          <a:prstGeom prst="rect">
            <a:avLst/>
          </a:prstGeom>
        </p:spPr>
      </p:pic>
      <p:pic>
        <p:nvPicPr>
          <p:cNvPr id="36" name="CryoSmartImage:J266/volume" descr="image-J26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87040" y="6477000"/>
            <a:ext cx="883920" cy="441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1F2937"/>
      </a:dk2>
      <a:lt2>
        <a:srgbClr val="F8FAFC"/>
      </a:lt2>
      <a:accent1>
        <a:srgbClr val="0D9488"/>
      </a:accent1>
      <a:accent2>
        <a:srgbClr val="666666"/>
      </a:accent2>
      <a:accent3>
        <a:srgbClr val="999999"/>
      </a:accent3>
      <a:accent4>
        <a:srgbClr val="CCCCCC"/>
      </a:accent4>
      <a:accent5>
        <a:srgbClr val="333333"/>
      </a:accent5>
      <a:accent6>
        <a:srgbClr val="77777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5000"/>
              </a:schemeClr>
            </a:gs>
            <a:gs pos="50000">
              <a:schemeClr val="phClr">
                <a:lumMod val="105000"/>
                <a:satMod val="103000"/>
                <a:tint val="98000"/>
              </a:schemeClr>
            </a:gs>
            <a:gs pos="100000">
              <a:schemeClr val="phClr">
                <a:lumMod val="105000"/>
                <a:satMod val="109000"/>
                <a:tint val="9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hade val="109000"/>
                <a:satMod val="102000"/>
              </a:schemeClr>
            </a:gs>
            <a:gs pos="50000">
              <a:schemeClr val="phClr">
                <a:shade val="98000"/>
                <a:satMod val="102000"/>
              </a:schemeClr>
            </a:gs>
            <a:gs pos="100000">
              <a:schemeClr val="phClr">
                <a:shade val="90000"/>
                <a:satMod val="101000"/>
              </a:schemeClr>
            </a:gs>
          </a:gsLst>
          <a:lin ang="5400000" scaled="0"/>
        </a:gradFill>
      </a:fillStyleLst>
      <a:lnStyleLst>
        <a:ln w="6350" cap="rnd" cmpd="sqr" algn="ctr">
          <a:solidFill>
            <a:schemeClr val="phClr"/>
          </a:solidFill>
          <a:prstDash val="solid"/>
          <a:round/>
        </a:ln>
        <a:ln w="12700" cap="rnd" cmpd="sqr" algn="ctr">
          <a:solidFill>
            <a:schemeClr val="phClr"/>
          </a:solidFill>
          <a:prstDash val="solid"/>
          <a:round/>
        </a:ln>
        <a:ln w="19050" cap="rnd" cmpd="sqr" algn="ctr">
          <a:solidFill>
            <a:schemeClr val="phClr"/>
          </a:solidFill>
          <a:prstDash val="solid"/>
          <a:round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rev="0"/>
            </a:camera>
            <a:lightRig rig="threePt" dir="t">
              <a:rot lat="0" lon="0" rev="1200000"/>
            </a:lightRig>
          </a:scene3d>
          <a:sp3d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  <a:satMod val="103000"/>
              </a:schemeClr>
            </a:gs>
            <a:gs pos="100000">
              <a:schemeClr val="phClr">
                <a:tint val="100000"/>
                <a:shade val="100000"/>
                <a:satMod val="103000"/>
              </a:schemeClr>
            </a:gs>
          </a:gsLst>
          <a:lin scaled="0"/>
        </a:gradFill>
        <a:gradFill rotWithShape="1">
          <a:gsLst>
            <a:gs pos="0">
              <a:schemeClr val="phClr">
                <a:tint val="93000"/>
                <a:satMod val="115000"/>
                <a:shade val="98000"/>
              </a:schemeClr>
            </a:gs>
            <a:gs pos="50000">
              <a:schemeClr val="phClr">
                <a:tint val="98000"/>
                <a:satMod val="103000"/>
                <a:shade val="9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CryoSmart Lineage Tracer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CryoSmart Workflow P268 / J266</dc:title>
  <dc:creator>CryoSmart Lineage Tracer</dc:creator>
  <cp:lastModifiedBy>CryoSmart Lineage Tracer</cp:lastModifiedBy>
  <dcterms:created xsi:type="dcterms:W3CDTF">2026-10-29T13:49:25.947Z</dcterms:created>
  <dcterms:modified xsi:type="dcterms:W3CDTF">2026-10-29T13:49:25.947Z</dcterms:modified>
</cp:coreProperties>
</file>