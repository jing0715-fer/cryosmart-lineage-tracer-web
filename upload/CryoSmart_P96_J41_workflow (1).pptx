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4246169" y="475488"/>
            <a:ext cx="1164946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6,060 Micrographs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3" name="连接符 3"/>
          <p:cNvCxnSpPr/>
          <p:nvPr/>
        </p:nvCxnSpPr>
        <p:spPr>
          <a:xfrm>
            <a:off x="5429402" y="594360"/>
            <a:ext cx="292608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4" name="文本框 4"/>
          <p:cNvSpPr txBox="1"/>
          <p:nvPr/>
        </p:nvSpPr>
        <p:spPr>
          <a:xfrm>
            <a:off x="5740298" y="475488"/>
            <a:ext cx="711403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Auto pick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5" name="连接符 5"/>
          <p:cNvCxnSpPr/>
          <p:nvPr/>
        </p:nvCxnSpPr>
        <p:spPr>
          <a:xfrm>
            <a:off x="6469990" y="594360"/>
            <a:ext cx="292608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6" name="文本框 6"/>
          <p:cNvSpPr txBox="1"/>
          <p:nvPr/>
        </p:nvSpPr>
        <p:spPr>
          <a:xfrm>
            <a:off x="6780886" y="475488"/>
            <a:ext cx="1164946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164,291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1885798" y="1152144"/>
            <a:ext cx="1455725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2D class selection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8" name="文本框 8"/>
          <p:cNvSpPr txBox="1"/>
          <p:nvPr/>
        </p:nvSpPr>
        <p:spPr>
          <a:xfrm>
            <a:off x="3432962" y="1525219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12,259 selected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6 classes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9" name="文本框 9"/>
          <p:cNvSpPr txBox="1"/>
          <p:nvPr/>
        </p:nvSpPr>
        <p:spPr>
          <a:xfrm>
            <a:off x="1885798" y="2227478"/>
            <a:ext cx="1455725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Ab-initio reconstruction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0" name="文本框 10"/>
          <p:cNvSpPr txBox="1"/>
          <p:nvPr/>
        </p:nvSpPr>
        <p:spPr>
          <a:xfrm>
            <a:off x="3432962" y="2600554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50%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58,048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1" name="文本框 11"/>
          <p:cNvSpPr txBox="1"/>
          <p:nvPr/>
        </p:nvSpPr>
        <p:spPr>
          <a:xfrm>
            <a:off x="1885798" y="3302813"/>
            <a:ext cx="1455725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Hetero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2" name="文本框 12"/>
          <p:cNvSpPr txBox="1"/>
          <p:nvPr/>
        </p:nvSpPr>
        <p:spPr>
          <a:xfrm>
            <a:off x="3432962" y="3675888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77%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766,560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3" name="文本框 13"/>
          <p:cNvSpPr txBox="1"/>
          <p:nvPr/>
        </p:nvSpPr>
        <p:spPr>
          <a:xfrm>
            <a:off x="1885798" y="4378147"/>
            <a:ext cx="1455725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Ab-initio reconstruction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4" name="文本框 14"/>
          <p:cNvSpPr txBox="1"/>
          <p:nvPr/>
        </p:nvSpPr>
        <p:spPr>
          <a:xfrm>
            <a:off x="3432962" y="4751222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47%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590,421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5" name="文本框 15"/>
          <p:cNvSpPr txBox="1"/>
          <p:nvPr/>
        </p:nvSpPr>
        <p:spPr>
          <a:xfrm>
            <a:off x="1885798" y="5453482"/>
            <a:ext cx="1455725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Hetero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6" name="文本框 16"/>
          <p:cNvSpPr txBox="1"/>
          <p:nvPr/>
        </p:nvSpPr>
        <p:spPr>
          <a:xfrm>
            <a:off x="3432962" y="5826557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64.1%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590,421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7" name="文本框 17"/>
          <p:cNvSpPr txBox="1"/>
          <p:nvPr/>
        </p:nvSpPr>
        <p:spPr>
          <a:xfrm>
            <a:off x="7890358" y="1152144"/>
            <a:ext cx="1455725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Non-uniform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8" name="文本框 18"/>
          <p:cNvSpPr txBox="1"/>
          <p:nvPr/>
        </p:nvSpPr>
        <p:spPr>
          <a:xfrm>
            <a:off x="9437522" y="1525219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378,677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9" name="文本框 19"/>
          <p:cNvSpPr txBox="1"/>
          <p:nvPr/>
        </p:nvSpPr>
        <p:spPr>
          <a:xfrm>
            <a:off x="7890358" y="2227478"/>
            <a:ext cx="1455725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Non-uniform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0" name="文本框 20"/>
          <p:cNvSpPr txBox="1"/>
          <p:nvPr/>
        </p:nvSpPr>
        <p:spPr>
          <a:xfrm>
            <a:off x="9437522" y="2600554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378,677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1" name="文本框 21"/>
          <p:cNvSpPr txBox="1"/>
          <p:nvPr/>
        </p:nvSpPr>
        <p:spPr>
          <a:xfrm>
            <a:off x="7890358" y="3302813"/>
            <a:ext cx="1455725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Ab-initio reconstruction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2" name="文本框 22"/>
          <p:cNvSpPr txBox="1"/>
          <p:nvPr/>
        </p:nvSpPr>
        <p:spPr>
          <a:xfrm>
            <a:off x="9437522" y="3675888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4.2%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378,677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3" name="文本框 23"/>
          <p:cNvSpPr txBox="1"/>
          <p:nvPr/>
        </p:nvSpPr>
        <p:spPr>
          <a:xfrm>
            <a:off x="7890358" y="4378147"/>
            <a:ext cx="1455725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Homo Reconstruct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4" name="文本框 24"/>
          <p:cNvSpPr txBox="1"/>
          <p:nvPr/>
        </p:nvSpPr>
        <p:spPr>
          <a:xfrm>
            <a:off x="9437522" y="4751222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209,127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5" name="文本框 25"/>
          <p:cNvSpPr txBox="1"/>
          <p:nvPr/>
        </p:nvSpPr>
        <p:spPr>
          <a:xfrm>
            <a:off x="7890358" y="5453482"/>
            <a:ext cx="1455725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Local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6" name="文本框 26"/>
          <p:cNvSpPr txBox="1"/>
          <p:nvPr/>
        </p:nvSpPr>
        <p:spPr>
          <a:xfrm>
            <a:off x="9437522" y="5826557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209,127 particles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27" name="连接符 27"/>
          <p:cNvCxnSpPr/>
          <p:nvPr/>
        </p:nvCxnSpPr>
        <p:spPr>
          <a:xfrm>
            <a:off x="2613660" y="2099462"/>
            <a:ext cx="0" cy="100584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28" name="连接符 28"/>
          <p:cNvCxnSpPr/>
          <p:nvPr/>
        </p:nvCxnSpPr>
        <p:spPr>
          <a:xfrm>
            <a:off x="2613660" y="3174797"/>
            <a:ext cx="0" cy="100584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29" name="连接符 29"/>
          <p:cNvCxnSpPr/>
          <p:nvPr/>
        </p:nvCxnSpPr>
        <p:spPr>
          <a:xfrm>
            <a:off x="2613660" y="4250131"/>
            <a:ext cx="0" cy="100584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30" name="连接符 30"/>
          <p:cNvCxnSpPr/>
          <p:nvPr/>
        </p:nvCxnSpPr>
        <p:spPr>
          <a:xfrm>
            <a:off x="2613660" y="5325466"/>
            <a:ext cx="0" cy="100584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31" name="连接符 31"/>
          <p:cNvCxnSpPr/>
          <p:nvPr/>
        </p:nvCxnSpPr>
        <p:spPr>
          <a:xfrm flipV="1">
            <a:off x="3368954" y="1124712"/>
            <a:ext cx="4493971" cy="4893869"/>
          </a:xfrm>
          <a:prstGeom prst="bentConnector3">
            <a:avLst/>
          </a:prstGeom>
          <a:ln w="12700">
            <a:solidFill>
              <a:srgbClr val="000000"/>
            </a:solidFill>
            <a:tailEnd type="arrow"/>
          </a:ln>
        </p:spPr>
      </p:cxnSp>
      <p:cxnSp>
        <p:nvCxnSpPr>
          <p:cNvPr id="32" name="连接符 32"/>
          <p:cNvCxnSpPr/>
          <p:nvPr/>
        </p:nvCxnSpPr>
        <p:spPr>
          <a:xfrm>
            <a:off x="8618220" y="2099462"/>
            <a:ext cx="0" cy="100584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33" name="连接符 33"/>
          <p:cNvCxnSpPr/>
          <p:nvPr/>
        </p:nvCxnSpPr>
        <p:spPr>
          <a:xfrm>
            <a:off x="8618220" y="3174797"/>
            <a:ext cx="0" cy="100584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34" name="连接符 34"/>
          <p:cNvCxnSpPr/>
          <p:nvPr/>
        </p:nvCxnSpPr>
        <p:spPr>
          <a:xfrm>
            <a:off x="8618220" y="4250131"/>
            <a:ext cx="0" cy="100584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35" name="连接符 35"/>
          <p:cNvCxnSpPr/>
          <p:nvPr/>
        </p:nvCxnSpPr>
        <p:spPr>
          <a:xfrm>
            <a:off x="8618220" y="5325466"/>
            <a:ext cx="0" cy="100584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36" name="连接符 36"/>
          <p:cNvCxnSpPr/>
          <p:nvPr/>
        </p:nvCxnSpPr>
        <p:spPr>
          <a:xfrm>
            <a:off x="2613660" y="768096"/>
            <a:ext cx="0" cy="35661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37" name="文本框 37"/>
          <p:cNvSpPr txBox="1"/>
          <p:nvPr/>
        </p:nvSpPr>
        <p:spPr>
          <a:xfrm>
            <a:off x="411480" y="6547104"/>
            <a:ext cx="1136904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750" dirty="0">
                <a:solidFill>
                  <a:srgbClr val="808080"/>
                </a:solidFill>
                <a:latin typeface="Arial"/>
                <a:ea typeface="微软雅黑"/>
              </a:rPr>
              <a:t>所有地图已对齐至参考 J41/volume · 手性检查: 2 个已翻正，7 个一致 · 视角 y-90 · CryoSmart Workflow Figure (ChimeraX aligned)</a:t>
            </a:r>
            <a:endParaRPr lang="zh-CN" altLang="en-US" sz="750">
              <a:latin typeface="Arial"/>
              <a:ea typeface="微软雅黑"/>
            </a:endParaRPr>
          </a:p>
        </p:txBody>
      </p:sp>
      <p:pic>
        <p:nvPicPr>
          <p:cNvPr id="38" name="CryoSmartImage:http://cryosmartdb.shuimubio.com/api/log_image/6ac74452c00aa3541044370a" descr="image-J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798" y="1601677"/>
            <a:ext cx="1455725" cy="231132"/>
          </a:xfrm>
          <a:prstGeom prst="rect">
            <a:avLst/>
          </a:prstGeom>
        </p:spPr>
      </p:pic>
      <p:pic>
        <p:nvPicPr>
          <p:cNvPr id="39" name="CryoSmartImage:J27/volume_class_0" descr="image-J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798" y="2428646"/>
            <a:ext cx="1455725" cy="727862"/>
          </a:xfrm>
          <a:prstGeom prst="rect">
            <a:avLst/>
          </a:prstGeom>
        </p:spPr>
      </p:pic>
      <p:pic>
        <p:nvPicPr>
          <p:cNvPr id="40" name="CryoSmartImage:J31/volume_class_0" descr="image-J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798" y="3503981"/>
            <a:ext cx="1455725" cy="727862"/>
          </a:xfrm>
          <a:prstGeom prst="rect">
            <a:avLst/>
          </a:prstGeom>
        </p:spPr>
      </p:pic>
      <p:pic>
        <p:nvPicPr>
          <p:cNvPr id="41" name="CryoSmartImage:J33/volume_class_0" descr="image-J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5798" y="4579315"/>
            <a:ext cx="1455725" cy="727862"/>
          </a:xfrm>
          <a:prstGeom prst="rect">
            <a:avLst/>
          </a:prstGeom>
        </p:spPr>
      </p:pic>
      <p:pic>
        <p:nvPicPr>
          <p:cNvPr id="42" name="CryoSmartImage:J34/volume_class_0" descr="image-J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5798" y="5654650"/>
            <a:ext cx="1455725" cy="727862"/>
          </a:xfrm>
          <a:prstGeom prst="rect">
            <a:avLst/>
          </a:prstGeom>
        </p:spPr>
      </p:pic>
      <p:pic>
        <p:nvPicPr>
          <p:cNvPr id="43" name="CryoSmartImage:J35/volume" descr="image-J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0358" y="1353312"/>
            <a:ext cx="1455725" cy="727862"/>
          </a:xfrm>
          <a:prstGeom prst="rect">
            <a:avLst/>
          </a:prstGeom>
        </p:spPr>
      </p:pic>
      <p:pic>
        <p:nvPicPr>
          <p:cNvPr id="44" name="CryoSmartImage:J37/volume" descr="image-J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0358" y="2428646"/>
            <a:ext cx="1455725" cy="727862"/>
          </a:xfrm>
          <a:prstGeom prst="rect">
            <a:avLst/>
          </a:prstGeom>
        </p:spPr>
      </p:pic>
      <p:pic>
        <p:nvPicPr>
          <p:cNvPr id="45" name="CryoSmartImage:J39/volume_class_0" descr="image-J3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0358" y="3503981"/>
            <a:ext cx="1455725" cy="727862"/>
          </a:xfrm>
          <a:prstGeom prst="rect">
            <a:avLst/>
          </a:prstGeom>
        </p:spPr>
      </p:pic>
      <p:pic>
        <p:nvPicPr>
          <p:cNvPr id="46" name="CryoSmartImage:J40/volume" descr="image-J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0358" y="4579315"/>
            <a:ext cx="1455725" cy="727862"/>
          </a:xfrm>
          <a:prstGeom prst="rect">
            <a:avLst/>
          </a:prstGeom>
        </p:spPr>
      </p:pic>
      <p:pic>
        <p:nvPicPr>
          <p:cNvPr id="47" name="CryoSmartImage:J41/volume" descr="image-J4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90358" y="5654650"/>
            <a:ext cx="1455725" cy="7278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0D9488"/>
      </a:accent1>
      <a:accent2>
        <a:srgbClr val="666666"/>
      </a:accent2>
      <a:accent3>
        <a:srgbClr val="999999"/>
      </a:accent3>
      <a:accent4>
        <a:srgbClr val="CCCCCC"/>
      </a:accent4>
      <a:accent5>
        <a:srgbClr val="333333"/>
      </a:accent5>
      <a:accent6>
        <a:srgbClr val="77777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微软雅黑"/>
      </a:majorFont>
      <a:minorFont>
        <a:latin typeface="Arial"/>
        <a:ea typeface="微软雅黑"/>
      </a:minorFont>
    </a:fontScheme>
    <a:fmtScheme name="Office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CryoSmart Lineage Tracer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CryoSmart Workflow P96 / J41</dc:title>
  <dc:creator>CryoSmart Lineage Tracer</dc:creator>
  <cp:lastModifiedBy>CryoSmart Lineage Tracer</cp:lastModifiedBy>
  <dcterms:created xsi:type="dcterms:W3CDTF">2026-10-28T05:05:01.793Z</dcterms:created>
  <dcterms:modified xsi:type="dcterms:W3CDTF">2026-10-28T05:05:01.793Z</dcterms:modified>
</cp:coreProperties>
</file>