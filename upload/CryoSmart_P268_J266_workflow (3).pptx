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6858000" cy="9144000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400">
          <a:latin typeface="Arial"/>
          <a:ea typeface="微软雅黑"/>
        </a:defRPr>
      </a:lvl1pPr>
    </p:titleStyle>
    <p:bodyStyle>
      <a:lvl1pPr>
        <a:defRPr sz="1800">
          <a:latin typeface="Arial"/>
          <a:ea typeface="微软雅黑"/>
        </a:defRPr>
      </a:lvl1pPr>
    </p:bodyStyle>
    <p:otherStyle>
      <a:lvl1pPr>
        <a:defRPr sz="1200">
          <a:latin typeface="Arial"/>
          <a:ea typeface="微软雅黑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2"/>
          <p:cNvSpPr txBox="1"/>
          <p:nvPr/>
        </p:nvSpPr>
        <p:spPr>
          <a:xfrm>
            <a:off x="640994" y="502920"/>
            <a:ext cx="1221638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14,404 Micrographs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3" name="文本框 3"/>
          <p:cNvSpPr txBox="1"/>
          <p:nvPr/>
        </p:nvSpPr>
        <p:spPr>
          <a:xfrm>
            <a:off x="2027225" y="338328"/>
            <a:ext cx="711403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Auto pick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4" name="文本框 4"/>
          <p:cNvSpPr txBox="1"/>
          <p:nvPr/>
        </p:nvSpPr>
        <p:spPr>
          <a:xfrm>
            <a:off x="2903220" y="502920"/>
            <a:ext cx="105156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4812K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5" name="直接箭头连接符 5"/>
          <p:cNvCxnSpPr/>
          <p:nvPr/>
        </p:nvCxnSpPr>
        <p:spPr>
          <a:xfrm>
            <a:off x="3429000" y="758952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cxnSp>
        <p:nvCxnSpPr>
          <p:cNvPr id="6" name="直接箭头连接符 6"/>
          <p:cNvCxnSpPr/>
          <p:nvPr/>
        </p:nvCxnSpPr>
        <p:spPr>
          <a:xfrm>
            <a:off x="3429000" y="2258568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7" name="文本框 7"/>
          <p:cNvSpPr txBox="1"/>
          <p:nvPr/>
        </p:nvSpPr>
        <p:spPr>
          <a:xfrm>
            <a:off x="2819095" y="1911096"/>
            <a:ext cx="1219810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5.5%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228,979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8" name="直接箭头连接符 8"/>
          <p:cNvCxnSpPr/>
          <p:nvPr/>
        </p:nvCxnSpPr>
        <p:spPr>
          <a:xfrm>
            <a:off x="3429000" y="3758184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9" name="文本框 9"/>
          <p:cNvSpPr txBox="1"/>
          <p:nvPr/>
        </p:nvSpPr>
        <p:spPr>
          <a:xfrm>
            <a:off x="2819095" y="3410712"/>
            <a:ext cx="1219810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72.6%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166,197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10" name="直接箭头连接符 10"/>
          <p:cNvCxnSpPr/>
          <p:nvPr/>
        </p:nvCxnSpPr>
        <p:spPr>
          <a:xfrm>
            <a:off x="3429000" y="5202936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11" name="文本框 11"/>
          <p:cNvSpPr txBox="1"/>
          <p:nvPr/>
        </p:nvSpPr>
        <p:spPr>
          <a:xfrm>
            <a:off x="2847442" y="4855464"/>
            <a:ext cx="1163117" cy="33832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40.8%</a:t>
            </a:r>
            <a:endParaRPr lang="zh-CN" altLang="en-US" sz="800">
              <a:latin typeface="Arial"/>
              <a:ea typeface="微软雅黑"/>
            </a:endParaRPr>
          </a:p>
          <a:p>
            <a:pPr algn="ct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67,794 particles</a:t>
            </a:r>
            <a:endParaRPr lang="zh-CN" altLang="en-US" sz="800">
              <a:latin typeface="Arial"/>
              <a:ea typeface="微软雅黑"/>
            </a:endParaRPr>
          </a:p>
        </p:txBody>
      </p:sp>
      <p:cxnSp>
        <p:nvCxnSpPr>
          <p:cNvPr id="12" name="直接箭头连接符 12"/>
          <p:cNvCxnSpPr/>
          <p:nvPr/>
        </p:nvCxnSpPr>
        <p:spPr>
          <a:xfrm>
            <a:off x="3429000" y="6382512"/>
            <a:ext cx="0" cy="356616"/>
          </a:xfrm>
          <a:prstGeom prst="straightConnector1">
            <a:avLst/>
          </a:prstGeom>
          <a:ln w="12700">
            <a:solidFill>
              <a:srgbClr val="000000"/>
            </a:solidFill>
            <a:tailEnd type="triangle"/>
          </a:ln>
        </p:spPr>
      </p:cxnSp>
      <p:sp>
        <p:nvSpPr>
          <p:cNvPr id="13" name="文本框 13"/>
          <p:cNvSpPr txBox="1"/>
          <p:nvPr/>
        </p:nvSpPr>
        <p:spPr>
          <a:xfrm>
            <a:off x="2298802" y="905256"/>
            <a:ext cx="1066190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Hetero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4" name="矩形 14"/>
          <p:cNvSpPr/>
          <p:nvPr/>
        </p:nvSpPr>
        <p:spPr>
          <a:xfrm>
            <a:off x="2670048" y="1143000"/>
            <a:ext cx="1517904" cy="79552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5"/>
          <p:cNvSpPr txBox="1"/>
          <p:nvPr/>
        </p:nvSpPr>
        <p:spPr>
          <a:xfrm>
            <a:off x="1927555" y="2404872"/>
            <a:ext cx="1437437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6" name="矩形 16"/>
          <p:cNvSpPr/>
          <p:nvPr/>
        </p:nvSpPr>
        <p:spPr>
          <a:xfrm>
            <a:off x="2670048" y="2642616"/>
            <a:ext cx="1517904" cy="79552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7"/>
          <p:cNvSpPr txBox="1"/>
          <p:nvPr/>
        </p:nvSpPr>
        <p:spPr>
          <a:xfrm>
            <a:off x="1927555" y="3849624"/>
            <a:ext cx="1437437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Ab-initio reconstruction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18" name="矩形 18"/>
          <p:cNvSpPr/>
          <p:nvPr/>
        </p:nvSpPr>
        <p:spPr>
          <a:xfrm>
            <a:off x="1078992" y="4087368"/>
            <a:ext cx="1517904" cy="795528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9"/>
          <p:cNvSpPr txBox="1"/>
          <p:nvPr/>
        </p:nvSpPr>
        <p:spPr>
          <a:xfrm>
            <a:off x="2351837" y="5294376"/>
            <a:ext cx="1013155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Local refinement</a:t>
            </a:r>
            <a:endParaRPr lang="zh-CN" altLang="en-US" sz="800">
              <a:latin typeface="Arial"/>
              <a:ea typeface="微软雅黑"/>
            </a:endParaRPr>
          </a:p>
        </p:txBody>
      </p:sp>
      <p:sp>
        <p:nvSpPr>
          <p:cNvPr id="20" name="文本框 20"/>
          <p:cNvSpPr txBox="1"/>
          <p:nvPr/>
        </p:nvSpPr>
        <p:spPr>
          <a:xfrm>
            <a:off x="2563978" y="6473952"/>
            <a:ext cx="801014" cy="23774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en-US" altLang="zh-CN" sz="800" dirty="0">
                <a:solidFill>
                  <a:srgbClr val="000000"/>
                </a:solidFill>
                <a:latin typeface="Arial"/>
                <a:ea typeface="微软雅黑"/>
              </a:rPr>
              <a:t>DeepEMhancer</a:t>
            </a:r>
            <a:endParaRPr lang="zh-CN" altLang="en-US" sz="800">
              <a:latin typeface="Arial"/>
              <a:ea typeface="微软雅黑"/>
            </a:endParaRPr>
          </a:p>
        </p:txBody>
      </p:sp>
      <p:pic>
        <p:nvPicPr>
          <p:cNvPr id="21" name="CryoSmartImage:J15/volume_class_0" descr="image-J15_volume_class_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1179576"/>
            <a:ext cx="1444752" cy="722376"/>
          </a:xfrm>
          <a:prstGeom prst="rect">
            <a:avLst/>
          </a:prstGeom>
        </p:spPr>
      </p:pic>
      <p:pic>
        <p:nvPicPr>
          <p:cNvPr id="22" name="CryoSmartImage:J15/volume_class_1" descr="image-J15_volume_class_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6624" y="1179576"/>
            <a:ext cx="1444752" cy="722376"/>
          </a:xfrm>
          <a:prstGeom prst="rect">
            <a:avLst/>
          </a:prstGeom>
        </p:spPr>
      </p:pic>
      <p:pic>
        <p:nvPicPr>
          <p:cNvPr id="23" name="CryoSmartImage:J15/volume_class_2" descr="image-J15_volume_class_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179576"/>
            <a:ext cx="1444752" cy="722376"/>
          </a:xfrm>
          <a:prstGeom prst="rect">
            <a:avLst/>
          </a:prstGeom>
        </p:spPr>
      </p:pic>
      <p:pic>
        <p:nvPicPr>
          <p:cNvPr id="24" name="CryoSmartImage:J257/volume_class_0" descr="image-J257_volume_class_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5568" y="2679192"/>
            <a:ext cx="1444752" cy="722376"/>
          </a:xfrm>
          <a:prstGeom prst="rect">
            <a:avLst/>
          </a:prstGeom>
        </p:spPr>
      </p:pic>
      <p:pic>
        <p:nvPicPr>
          <p:cNvPr id="25" name="CryoSmartImage:J257/volume_class_1" descr="image-J257_volume_class_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06624" y="2679192"/>
            <a:ext cx="1444752" cy="722376"/>
          </a:xfrm>
          <a:prstGeom prst="rect">
            <a:avLst/>
          </a:prstGeom>
        </p:spPr>
      </p:pic>
      <p:pic>
        <p:nvPicPr>
          <p:cNvPr id="26" name="CryoSmartImage:J257/volume_class_2" descr="image-J257_volume_class_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97680" y="2679192"/>
            <a:ext cx="1444752" cy="722376"/>
          </a:xfrm>
          <a:prstGeom prst="rect">
            <a:avLst/>
          </a:prstGeom>
        </p:spPr>
      </p:pic>
      <p:pic>
        <p:nvPicPr>
          <p:cNvPr id="27" name="CryoSmartImage:J261/volume_class_0" descr="image-J261_volume_class_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5568" y="4123944"/>
            <a:ext cx="1444752" cy="722376"/>
          </a:xfrm>
          <a:prstGeom prst="rect">
            <a:avLst/>
          </a:prstGeom>
        </p:spPr>
      </p:pic>
      <p:pic>
        <p:nvPicPr>
          <p:cNvPr id="28" name="CryoSmartImage:J261/volume_class_1" descr="image-J261_volume_class_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06624" y="4123944"/>
            <a:ext cx="1444752" cy="722376"/>
          </a:xfrm>
          <a:prstGeom prst="rect">
            <a:avLst/>
          </a:prstGeom>
        </p:spPr>
      </p:pic>
      <p:pic>
        <p:nvPicPr>
          <p:cNvPr id="29" name="CryoSmartImage:J261/volume_class_2" descr="image-J261_volume_class_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297680" y="4123944"/>
            <a:ext cx="1444752" cy="722376"/>
          </a:xfrm>
          <a:prstGeom prst="rect">
            <a:avLst/>
          </a:prstGeom>
        </p:spPr>
      </p:pic>
      <p:pic>
        <p:nvPicPr>
          <p:cNvPr id="30" name="CryoSmartImage:J264/volume" descr="image-J264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06624" y="5568696"/>
            <a:ext cx="1444752" cy="722376"/>
          </a:xfrm>
          <a:prstGeom prst="rect">
            <a:avLst/>
          </a:prstGeom>
        </p:spPr>
      </p:pic>
      <p:pic>
        <p:nvPicPr>
          <p:cNvPr id="31" name="CryoSmartImage:J266/volume" descr="image-J266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06624" y="6748272"/>
            <a:ext cx="1444752" cy="7223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0D9488"/>
      </a:accent1>
      <a:accent2>
        <a:srgbClr val="666666"/>
      </a:accent2>
      <a:accent3>
        <a:srgbClr val="999999"/>
      </a:accent3>
      <a:accent4>
        <a:srgbClr val="CCCCCC"/>
      </a:accent4>
      <a:accent5>
        <a:srgbClr val="333333"/>
      </a:accent5>
      <a:accent6>
        <a:srgbClr val="77777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微软雅黑"/>
        <a:cs typeface="Arial"/>
      </a:majorFont>
      <a:minorFont>
        <a:latin typeface="Arial"/>
        <a:ea typeface="微软雅黑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5000"/>
              </a:schemeClr>
            </a:gs>
            <a:gs pos="50000">
              <a:schemeClr val="phClr">
                <a:lumMod val="105000"/>
                <a:satMod val="103000"/>
                <a:tint val="98000"/>
              </a:schemeClr>
            </a:gs>
            <a:gs pos="100000">
              <a:schemeClr val="phClr">
                <a:lumMod val="105000"/>
                <a:satMod val="109000"/>
                <a:tint val="9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hade val="109000"/>
                <a:satMod val="102000"/>
              </a:schemeClr>
            </a:gs>
            <a:gs pos="50000">
              <a:schemeClr val="phClr">
                <a:shade val="98000"/>
                <a:satMod val="102000"/>
              </a:schemeClr>
            </a:gs>
            <a:gs pos="100000">
              <a:schemeClr val="phClr">
                <a:shade val="90000"/>
                <a:satMod val="101000"/>
              </a:schemeClr>
            </a:gs>
          </a:gsLst>
          <a:lin ang="5400000" scaled="0"/>
        </a:gradFill>
      </a:fillStyleLst>
      <a:lnStyleLst>
        <a:ln w="6350" cap="rnd" cmpd="sqr" algn="ctr">
          <a:solidFill>
            <a:schemeClr val="phClr"/>
          </a:solidFill>
          <a:prstDash val="solid"/>
          <a:round/>
        </a:ln>
        <a:ln w="12700" cap="rnd" cmpd="sqr" algn="ctr">
          <a:solidFill>
            <a:schemeClr val="phClr"/>
          </a:solidFill>
          <a:prstDash val="solid"/>
          <a:round/>
        </a:ln>
        <a:ln w="19050" cap="rnd" cmpd="sqr" algn="ctr">
          <a:solidFill>
            <a:schemeClr val="phClr"/>
          </a:solidFill>
          <a:prstDash val="solid"/>
          <a:round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rev="0"/>
            </a:camera>
            <a:lightRig rig="threePt" dir="t">
              <a:rot lat="0" lon="0" rev="1200000"/>
            </a:lightRig>
          </a:scene3d>
          <a:sp3d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  <a:satMod val="103000"/>
              </a:schemeClr>
            </a:gs>
            <a:gs pos="100000">
              <a:schemeClr val="phClr">
                <a:tint val="100000"/>
                <a:shade val="100000"/>
                <a:satMod val="103000"/>
              </a:schemeClr>
            </a:gs>
          </a:gsLst>
          <a:lin scaled="0"/>
        </a:gradFill>
        <a:gradFill rotWithShape="1">
          <a:gsLst>
            <a:gs pos="0">
              <a:schemeClr val="phClr">
                <a:tint val="93000"/>
                <a:satMod val="115000"/>
                <a:shade val="98000"/>
              </a:schemeClr>
            </a:gs>
            <a:gs pos="50000">
              <a:schemeClr val="phClr">
                <a:tint val="98000"/>
                <a:satMod val="103000"/>
                <a:shade val="9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CryoSmart Lineage Tracer</Application>
  <PresentationFormat>Custom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CryoSmart Workflow P268 / J266</dc:title>
  <dc:creator>CryoSmart Lineage Tracer</dc:creator>
  <cp:lastModifiedBy>CryoSmart Lineage Tracer</cp:lastModifiedBy>
  <dcterms:created xsi:type="dcterms:W3CDTF">2026-10-29T15:22:15.349Z</dcterms:created>
  <dcterms:modified xsi:type="dcterms:W3CDTF">2026-10-29T15:22:15.349Z</dcterms:modified>
</cp:coreProperties>
</file>