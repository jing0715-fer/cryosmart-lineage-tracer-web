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sldIdLst>
    <p:sldId id="257" r:id="rId2"/>
  </p:sldIdLst>
  <p:sldSz cx="6858000" cy="9144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98" autoAdjust="0"/>
    <p:restoredTop sz="94660"/>
  </p:normalViewPr>
  <p:slideViewPr>
    <p:cSldViewPr snapToGrid="0" showGuides="1">
      <p:cViewPr>
        <p:scale>
          <a:sx n="142" d="100"/>
          <a:sy n="142" d="100"/>
        </p:scale>
        <p:origin x="3324" y="54"/>
      </p:cViewPr>
      <p:guideLst>
        <p:guide orient="horz" pos="2880"/>
        <p:guide pos="21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2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287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8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5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26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968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985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666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191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7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019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8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/>
          <p:cNvSpPr txBox="1"/>
          <p:nvPr/>
        </p:nvSpPr>
        <p:spPr>
          <a:xfrm>
            <a:off x="2032418" y="813387"/>
            <a:ext cx="1279525" cy="234949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r"/>
            <a:r>
              <a:rPr lang="en-US" altLang="zh-CN" sz="800">
                <a:latin typeface="Arial" panose="020B0604020202020204" pitchFamily="34" charset="0"/>
                <a:ea typeface="微软雅黑" panose="020B0503020204020204" charset="-122"/>
              </a:rPr>
              <a:t>2*Hetero refinement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83114" y="502232"/>
            <a:ext cx="1292860" cy="17272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altLang="zh-CN" sz="800" dirty="0">
                <a:latin typeface="Arial" panose="020B0604020202020204" pitchFamily="34" charset="0"/>
                <a:ea typeface="微软雅黑" panose="020B0503020204020204" charset="-122"/>
              </a:rPr>
              <a:t>6,060 Micrographs</a:t>
            </a:r>
          </a:p>
        </p:txBody>
      </p:sp>
      <p:sp>
        <p:nvSpPr>
          <p:cNvPr id="27" name="矩形 26"/>
          <p:cNvSpPr/>
          <p:nvPr/>
        </p:nvSpPr>
        <p:spPr>
          <a:xfrm>
            <a:off x="1850482" y="1099363"/>
            <a:ext cx="926466" cy="8033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3377450" y="2207669"/>
            <a:ext cx="3175" cy="360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2914221" y="1865920"/>
            <a:ext cx="9717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37.2%</a:t>
            </a: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590,421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 particles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3070810" y="6160207"/>
            <a:ext cx="6447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C1, 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70</a:t>
            </a:r>
            <a:r>
              <a:rPr lang="zh-CN" altLang="en-US" sz="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Å</a:t>
            </a:r>
            <a:endParaRPr lang="en-US" altLang="zh-CN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54664" y="336500"/>
            <a:ext cx="698500" cy="23304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r"/>
            <a:r>
              <a:rPr lang="en-US" altLang="zh-CN" sz="800">
                <a:latin typeface="Arial" panose="020B0604020202020204" pitchFamily="34" charset="0"/>
                <a:ea typeface="微软雅黑" panose="020B0503020204020204" charset="-122"/>
              </a:rPr>
              <a:t>Auto pick 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2709328" y="502235"/>
            <a:ext cx="1266825" cy="23304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altLang="zh-CN" sz="800" dirty="0">
                <a:latin typeface="Arial" panose="020B0604020202020204" pitchFamily="34" charset="0"/>
                <a:ea typeface="微软雅黑" panose="020B0503020204020204" charset="-122"/>
              </a:rPr>
              <a:t>1,588,675 particles </a:t>
            </a:r>
          </a:p>
        </p:txBody>
      </p:sp>
      <p:cxnSp>
        <p:nvCxnSpPr>
          <p:cNvPr id="55" name="直接箭头连接符 54"/>
          <p:cNvCxnSpPr/>
          <p:nvPr/>
        </p:nvCxnSpPr>
        <p:spPr>
          <a:xfrm rot="10800000" flipV="1">
            <a:off x="3377451" y="764290"/>
            <a:ext cx="635" cy="360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rot="16200000" flipH="1">
            <a:off x="2642121" y="429010"/>
            <a:ext cx="635" cy="360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812069" y="3627350"/>
            <a:ext cx="1479550" cy="187961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r"/>
            <a:r>
              <a:rPr lang="en-US" altLang="zh-CN" sz="800" dirty="0">
                <a:latin typeface="Arial" panose="020B0604020202020204" pitchFamily="34" charset="0"/>
                <a:ea typeface="微软雅黑" panose="020B0503020204020204" charset="-122"/>
              </a:rPr>
              <a:t>HR-HAIR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030514" y="2251687"/>
            <a:ext cx="1279525" cy="234949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r"/>
            <a:r>
              <a:rPr lang="en-US" altLang="zh-CN" sz="800" dirty="0">
                <a:latin typeface="Arial" panose="020B0604020202020204" pitchFamily="34" charset="0"/>
                <a:ea typeface="微软雅黑" panose="020B0503020204020204" charset="-122"/>
              </a:rPr>
              <a:t>Hetero refinement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914224" y="3211739"/>
            <a:ext cx="971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64.1%</a:t>
            </a: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378,677</a:t>
            </a:r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 particles</a:t>
            </a:r>
          </a:p>
        </p:txBody>
      </p:sp>
      <p:cxnSp>
        <p:nvCxnSpPr>
          <p:cNvPr id="2" name="直接箭头连接符 1"/>
          <p:cNvCxnSpPr/>
          <p:nvPr/>
        </p:nvCxnSpPr>
        <p:spPr>
          <a:xfrm flipH="1">
            <a:off x="3374275" y="3603019"/>
            <a:ext cx="3175" cy="360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ryoSmartImage:J31/volume_class_0" descr="image-J31_volume_class_0">
            <a:extLst>
              <a:ext uri="{FF2B5EF4-FFF2-40B4-BE49-F238E27FC236}">
                <a16:creationId xmlns:a16="http://schemas.microsoft.com/office/drawing/2014/main" id="{81099675-B28D-EBB0-9515-F97AFE9BD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058" y="1138252"/>
            <a:ext cx="1444752" cy="722376"/>
          </a:xfrm>
          <a:prstGeom prst="rect">
            <a:avLst/>
          </a:prstGeom>
        </p:spPr>
      </p:pic>
      <p:pic>
        <p:nvPicPr>
          <p:cNvPr id="10" name="CryoSmartImage:J31/volume_class_1" descr="image-J31_volume_class_1">
            <a:extLst>
              <a:ext uri="{FF2B5EF4-FFF2-40B4-BE49-F238E27FC236}">
                <a16:creationId xmlns:a16="http://schemas.microsoft.com/office/drawing/2014/main" id="{A20823A3-1596-68E7-2E30-BFFB039F8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772" y="1143003"/>
            <a:ext cx="1444752" cy="722376"/>
          </a:xfrm>
          <a:prstGeom prst="rect">
            <a:avLst/>
          </a:prstGeom>
        </p:spPr>
      </p:pic>
      <p:pic>
        <p:nvPicPr>
          <p:cNvPr id="16" name="CryoSmartImage:J31/volume_class_2" descr="image-J31_volume_class_2">
            <a:extLst>
              <a:ext uri="{FF2B5EF4-FFF2-40B4-BE49-F238E27FC236}">
                <a16:creationId xmlns:a16="http://schemas.microsoft.com/office/drawing/2014/main" id="{23B61B23-1BB7-5A54-64B3-4181B6FE3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538" y="1143003"/>
            <a:ext cx="1444752" cy="722376"/>
          </a:xfrm>
          <a:prstGeom prst="rect">
            <a:avLst/>
          </a:prstGeom>
        </p:spPr>
      </p:pic>
      <p:pic>
        <p:nvPicPr>
          <p:cNvPr id="19" name="CryoSmartImage:J34/volume_class_0" descr="image-J34_volume_class_0">
            <a:extLst>
              <a:ext uri="{FF2B5EF4-FFF2-40B4-BE49-F238E27FC236}">
                <a16:creationId xmlns:a16="http://schemas.microsoft.com/office/drawing/2014/main" id="{9C8C5B19-82F3-00B0-15B8-B516B35C35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8201" y="2584458"/>
            <a:ext cx="1444752" cy="722376"/>
          </a:xfrm>
          <a:prstGeom prst="rect">
            <a:avLst/>
          </a:prstGeom>
        </p:spPr>
      </p:pic>
      <p:pic>
        <p:nvPicPr>
          <p:cNvPr id="24" name="CryoSmartImage:J34/volume_class_1" descr="image-J34_volume_class_1">
            <a:extLst>
              <a:ext uri="{FF2B5EF4-FFF2-40B4-BE49-F238E27FC236}">
                <a16:creationId xmlns:a16="http://schemas.microsoft.com/office/drawing/2014/main" id="{A8E44B76-5789-C41F-2F60-79ACEFBBE7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7715" y="2557598"/>
            <a:ext cx="1444752" cy="722376"/>
          </a:xfrm>
          <a:prstGeom prst="rect">
            <a:avLst/>
          </a:prstGeom>
        </p:spPr>
      </p:pic>
      <p:pic>
        <p:nvPicPr>
          <p:cNvPr id="26" name="CryoSmartImage:J34/volume_class_2" descr="image-J34_volume_class_2">
            <a:extLst>
              <a:ext uri="{FF2B5EF4-FFF2-40B4-BE49-F238E27FC236}">
                <a16:creationId xmlns:a16="http://schemas.microsoft.com/office/drawing/2014/main" id="{35FECADC-4260-B3EA-D545-14240A6CAE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5656" y="2549644"/>
            <a:ext cx="1444752" cy="722376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2E64690D-1EBD-25D0-A1B7-378A5A4E46ED}"/>
              </a:ext>
            </a:extLst>
          </p:cNvPr>
          <p:cNvSpPr/>
          <p:nvPr/>
        </p:nvSpPr>
        <p:spPr>
          <a:xfrm>
            <a:off x="1850482" y="2530592"/>
            <a:ext cx="926466" cy="8033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297F523-7E0B-9706-7DF4-FC3FF870A223}"/>
              </a:ext>
            </a:extLst>
          </p:cNvPr>
          <p:cNvCxnSpPr/>
          <p:nvPr/>
        </p:nvCxnSpPr>
        <p:spPr>
          <a:xfrm flipH="1">
            <a:off x="3380625" y="5062613"/>
            <a:ext cx="3175" cy="360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5A6139A8-2556-CECE-AB55-09DCC98E93E2}"/>
              </a:ext>
            </a:extLst>
          </p:cNvPr>
          <p:cNvSpPr txBox="1"/>
          <p:nvPr/>
        </p:nvSpPr>
        <p:spPr>
          <a:xfrm>
            <a:off x="2033689" y="5106631"/>
            <a:ext cx="1279525" cy="234949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Local refinement</a:t>
            </a:r>
            <a:endParaRPr lang="en-US" altLang="zh-CN" sz="8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33" name="CryoSmartImage:J39/volume_class_0" descr="image-J39_volume_class_0">
            <a:extLst>
              <a:ext uri="{FF2B5EF4-FFF2-40B4-BE49-F238E27FC236}">
                <a16:creationId xmlns:a16="http://schemas.microsoft.com/office/drawing/2014/main" id="{90A42E58-8D60-B22A-7764-12D971C355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5287" y="4010595"/>
            <a:ext cx="1444752" cy="722376"/>
          </a:xfrm>
          <a:prstGeom prst="rect">
            <a:avLst/>
          </a:prstGeom>
        </p:spPr>
      </p:pic>
      <p:pic>
        <p:nvPicPr>
          <p:cNvPr id="35" name="CryoSmartImage:J39/volume_class_1" descr="image-J39_volume_class_1">
            <a:extLst>
              <a:ext uri="{FF2B5EF4-FFF2-40B4-BE49-F238E27FC236}">
                <a16:creationId xmlns:a16="http://schemas.microsoft.com/office/drawing/2014/main" id="{8BD65631-B011-9121-4810-8E12B1F1E0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9328" y="4002820"/>
            <a:ext cx="1444752" cy="722376"/>
          </a:xfrm>
          <a:prstGeom prst="rect">
            <a:avLst/>
          </a:prstGeom>
        </p:spPr>
      </p:pic>
      <p:pic>
        <p:nvPicPr>
          <p:cNvPr id="37" name="CryoSmartImage:J39/volume_class_2" descr="image-J39_volume_class_2">
            <a:extLst>
              <a:ext uri="{FF2B5EF4-FFF2-40B4-BE49-F238E27FC236}">
                <a16:creationId xmlns:a16="http://schemas.microsoft.com/office/drawing/2014/main" id="{155DED5C-22DD-12AF-3982-CEC30A905D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6269" y="4010429"/>
            <a:ext cx="1444752" cy="722376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A9E03698-957A-A0C2-FC7E-37568A57A422}"/>
              </a:ext>
            </a:extLst>
          </p:cNvPr>
          <p:cNvSpPr txBox="1"/>
          <p:nvPr/>
        </p:nvSpPr>
        <p:spPr>
          <a:xfrm>
            <a:off x="2914221" y="4718603"/>
            <a:ext cx="971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55.2%</a:t>
            </a:r>
            <a:endParaRPr lang="zh-CN" altLang="en-US" sz="800" dirty="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209,127 particles</a:t>
            </a:r>
            <a:endParaRPr lang="zh-CN" altLang="en-US" sz="800" dirty="0">
              <a:latin typeface="Arial"/>
              <a:ea typeface="微软雅黑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7B81FC9-0FD0-FD2C-CE42-32B35C209981}"/>
              </a:ext>
            </a:extLst>
          </p:cNvPr>
          <p:cNvSpPr/>
          <p:nvPr/>
        </p:nvSpPr>
        <p:spPr>
          <a:xfrm>
            <a:off x="4054799" y="3969782"/>
            <a:ext cx="926466" cy="8033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pic>
        <p:nvPicPr>
          <p:cNvPr id="46" name="CryoSmartImage:J41/volume" descr="image-J41">
            <a:extLst>
              <a:ext uri="{FF2B5EF4-FFF2-40B4-BE49-F238E27FC236}">
                <a16:creationId xmlns:a16="http://schemas.microsoft.com/office/drawing/2014/main" id="{71736AF5-DA6C-59D7-D594-84ED87D7DC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09328" y="5422613"/>
            <a:ext cx="1444752" cy="722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</TotalTime>
  <Words>33</Words>
  <Application>Microsoft Office PowerPoint</Application>
  <PresentationFormat>全屏显示(4:3)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lijing</dc:creator>
  <cp:lastModifiedBy>Li Jing</cp:lastModifiedBy>
  <cp:revision>15</cp:revision>
  <dcterms:created xsi:type="dcterms:W3CDTF">2023-08-09T12:44:00Z</dcterms:created>
  <dcterms:modified xsi:type="dcterms:W3CDTF">2026-10-29T09:00:13Z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0FFB374EF87741258E9EC42A4DEF22FC_13</vt:lpwstr>
  </property>
</Properties>
</file>