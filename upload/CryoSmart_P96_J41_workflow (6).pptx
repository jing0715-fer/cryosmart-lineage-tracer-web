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11480" y="475488"/>
            <a:ext cx="116494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6,060 Micrographs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3" name="连接符 3"/>
          <p:cNvCxnSpPr/>
          <p:nvPr/>
        </p:nvCxnSpPr>
        <p:spPr>
          <a:xfrm>
            <a:off x="1594714" y="594360"/>
            <a:ext cx="292608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4" name="文本框 4"/>
          <p:cNvSpPr txBox="1"/>
          <p:nvPr/>
        </p:nvSpPr>
        <p:spPr>
          <a:xfrm>
            <a:off x="1905610" y="475488"/>
            <a:ext cx="711403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Auto pick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5" name="连接符 5"/>
          <p:cNvCxnSpPr/>
          <p:nvPr/>
        </p:nvCxnSpPr>
        <p:spPr>
          <a:xfrm>
            <a:off x="2635301" y="594360"/>
            <a:ext cx="292608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6" name="文本框 6"/>
          <p:cNvSpPr txBox="1"/>
          <p:nvPr/>
        </p:nvSpPr>
        <p:spPr>
          <a:xfrm>
            <a:off x="2946197" y="475488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1635K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7" name="连接符 7"/>
          <p:cNvCxnSpPr/>
          <p:nvPr/>
        </p:nvCxnSpPr>
        <p:spPr>
          <a:xfrm>
            <a:off x="3471977" y="731520"/>
            <a:ext cx="0" cy="196596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8" name="连接符 8"/>
          <p:cNvCxnSpPr/>
          <p:nvPr/>
        </p:nvCxnSpPr>
        <p:spPr>
          <a:xfrm flipH="1">
            <a:off x="1502664" y="928116"/>
            <a:ext cx="1969313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9" name="连接符 9"/>
          <p:cNvCxnSpPr/>
          <p:nvPr/>
        </p:nvCxnSpPr>
        <p:spPr>
          <a:xfrm>
            <a:off x="1502664" y="928116"/>
            <a:ext cx="0" cy="19659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10" name="文本框 10"/>
          <p:cNvSpPr txBox="1"/>
          <p:nvPr/>
        </p:nvSpPr>
        <p:spPr>
          <a:xfrm>
            <a:off x="4080815" y="1152144"/>
            <a:ext cx="1326337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Hetero refinement</a:t>
            </a:r>
            <a:r>
              <a:rPr lang="en-US" altLang="zh-CN" sz="700" dirty="0">
                <a:solidFill>
                  <a:srgbClr val="808080"/>
                </a:solidFill>
                <a:latin typeface="Arial"/>
                <a:ea typeface="微软雅黑"/>
              </a:rPr>
              <a:t> · J31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1" name="文本框 11"/>
          <p:cNvSpPr txBox="1"/>
          <p:nvPr/>
        </p:nvSpPr>
        <p:spPr>
          <a:xfrm>
            <a:off x="780288" y="2103120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77%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590,421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2" name="文本框 12"/>
          <p:cNvSpPr txBox="1"/>
          <p:nvPr/>
        </p:nvSpPr>
        <p:spPr>
          <a:xfrm>
            <a:off x="2371344" y="2103120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11.8%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90,557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3" name="文本框 13"/>
          <p:cNvSpPr txBox="1"/>
          <p:nvPr/>
        </p:nvSpPr>
        <p:spPr>
          <a:xfrm>
            <a:off x="3962400" y="2103120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11.2%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85,582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4" name="文本框 14"/>
          <p:cNvSpPr txBox="1"/>
          <p:nvPr/>
        </p:nvSpPr>
        <p:spPr>
          <a:xfrm>
            <a:off x="4080815" y="2496312"/>
            <a:ext cx="1326337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Hetero refinement</a:t>
            </a:r>
            <a:r>
              <a:rPr lang="en-US" altLang="zh-CN" sz="700" dirty="0">
                <a:solidFill>
                  <a:srgbClr val="808080"/>
                </a:solidFill>
                <a:latin typeface="Arial"/>
                <a:ea typeface="微软雅黑"/>
              </a:rPr>
              <a:t> · J34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5" name="文本框 15"/>
          <p:cNvSpPr txBox="1"/>
          <p:nvPr/>
        </p:nvSpPr>
        <p:spPr>
          <a:xfrm>
            <a:off x="780288" y="3447288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64.1%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6" name="文本框 16"/>
          <p:cNvSpPr txBox="1"/>
          <p:nvPr/>
        </p:nvSpPr>
        <p:spPr>
          <a:xfrm>
            <a:off x="2371344" y="3447288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18.6%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109,606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7" name="文本框 17"/>
          <p:cNvSpPr txBox="1"/>
          <p:nvPr/>
        </p:nvSpPr>
        <p:spPr>
          <a:xfrm>
            <a:off x="3962400" y="3447288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17.3%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102,138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8" name="文本框 18"/>
          <p:cNvSpPr txBox="1"/>
          <p:nvPr/>
        </p:nvSpPr>
        <p:spPr>
          <a:xfrm>
            <a:off x="1891284" y="3977640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Non-uniform refinement</a:t>
            </a:r>
            <a:r>
              <a:rPr lang="en-US" altLang="zh-CN" sz="700" dirty="0">
                <a:solidFill>
                  <a:srgbClr val="808080"/>
                </a:solidFill>
                <a:latin typeface="Arial"/>
                <a:ea typeface="微软雅黑"/>
              </a:rPr>
              <a:t> · J35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9" name="文本框 19"/>
          <p:cNvSpPr txBox="1"/>
          <p:nvPr/>
        </p:nvSpPr>
        <p:spPr>
          <a:xfrm>
            <a:off x="3427476" y="4347972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0" name="文本框 20"/>
          <p:cNvSpPr txBox="1"/>
          <p:nvPr/>
        </p:nvSpPr>
        <p:spPr>
          <a:xfrm>
            <a:off x="1891284" y="5321808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Non-uniform refinement</a:t>
            </a:r>
            <a:r>
              <a:rPr lang="en-US" altLang="zh-CN" sz="700" dirty="0">
                <a:solidFill>
                  <a:srgbClr val="808080"/>
                </a:solidFill>
                <a:latin typeface="Arial"/>
                <a:ea typeface="微软雅黑"/>
              </a:rPr>
              <a:t> · J37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1" name="文本框 21"/>
          <p:cNvSpPr txBox="1"/>
          <p:nvPr/>
        </p:nvSpPr>
        <p:spPr>
          <a:xfrm>
            <a:off x="3427476" y="5692140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2" name="文本框 22"/>
          <p:cNvSpPr txBox="1"/>
          <p:nvPr/>
        </p:nvSpPr>
        <p:spPr>
          <a:xfrm>
            <a:off x="9714128" y="1152144"/>
            <a:ext cx="1697584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Ab-initio reconstruction</a:t>
            </a:r>
            <a:r>
              <a:rPr lang="en-US" altLang="zh-CN" sz="700" dirty="0">
                <a:solidFill>
                  <a:srgbClr val="808080"/>
                </a:solidFill>
                <a:latin typeface="Arial"/>
                <a:ea typeface="微软雅黑"/>
              </a:rPr>
              <a:t> · J39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3" name="文本框 23"/>
          <p:cNvSpPr txBox="1"/>
          <p:nvPr/>
        </p:nvSpPr>
        <p:spPr>
          <a:xfrm>
            <a:off x="6784848" y="2103120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4.2%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15,755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4" name="文本框 24"/>
          <p:cNvSpPr txBox="1"/>
          <p:nvPr/>
        </p:nvSpPr>
        <p:spPr>
          <a:xfrm>
            <a:off x="8375904" y="2103120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40.6%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153,795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5" name="文本框 25"/>
          <p:cNvSpPr txBox="1"/>
          <p:nvPr/>
        </p:nvSpPr>
        <p:spPr>
          <a:xfrm>
            <a:off x="9966960" y="2103120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55.2%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6" name="文本框 26"/>
          <p:cNvSpPr txBox="1"/>
          <p:nvPr/>
        </p:nvSpPr>
        <p:spPr>
          <a:xfrm>
            <a:off x="8067294" y="2633472"/>
            <a:ext cx="1273302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Homo Reconstruct</a:t>
            </a:r>
            <a:r>
              <a:rPr lang="en-US" altLang="zh-CN" sz="700" dirty="0">
                <a:solidFill>
                  <a:srgbClr val="808080"/>
                </a:solidFill>
                <a:latin typeface="Arial"/>
                <a:ea typeface="微软雅黑"/>
              </a:rPr>
              <a:t> · J40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7" name="文本框 27"/>
          <p:cNvSpPr txBox="1"/>
          <p:nvPr/>
        </p:nvSpPr>
        <p:spPr>
          <a:xfrm>
            <a:off x="9432036" y="3003804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8" name="文本框 28"/>
          <p:cNvSpPr txBox="1"/>
          <p:nvPr/>
        </p:nvSpPr>
        <p:spPr>
          <a:xfrm>
            <a:off x="8067294" y="3977640"/>
            <a:ext cx="1273302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Local refinement</a:t>
            </a:r>
            <a:r>
              <a:rPr lang="en-US" altLang="zh-CN" sz="700" dirty="0">
                <a:solidFill>
                  <a:srgbClr val="808080"/>
                </a:solidFill>
                <a:latin typeface="Arial"/>
                <a:ea typeface="微软雅黑"/>
              </a:rPr>
              <a:t> · J41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9" name="文本框 29"/>
          <p:cNvSpPr txBox="1"/>
          <p:nvPr/>
        </p:nvSpPr>
        <p:spPr>
          <a:xfrm>
            <a:off x="9432036" y="4347972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30" name="连接符 30"/>
          <p:cNvCxnSpPr/>
          <p:nvPr/>
        </p:nvCxnSpPr>
        <p:spPr>
          <a:xfrm>
            <a:off x="1502664" y="2368296"/>
            <a:ext cx="0" cy="10058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1" name="连接符 31"/>
          <p:cNvCxnSpPr/>
          <p:nvPr/>
        </p:nvCxnSpPr>
        <p:spPr>
          <a:xfrm>
            <a:off x="2613660" y="3712464"/>
            <a:ext cx="0" cy="23774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2" name="连接符 32"/>
          <p:cNvCxnSpPr/>
          <p:nvPr/>
        </p:nvCxnSpPr>
        <p:spPr>
          <a:xfrm>
            <a:off x="2613660" y="4919472"/>
            <a:ext cx="0" cy="37490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3" name="连接符 33"/>
          <p:cNvCxnSpPr/>
          <p:nvPr/>
        </p:nvCxnSpPr>
        <p:spPr>
          <a:xfrm flipV="1">
            <a:off x="3363468" y="1124712"/>
            <a:ext cx="3393948" cy="4759452"/>
          </a:xfrm>
          <a:prstGeom prst="bentConnector3">
            <a:avLst/>
          </a:prstGeom>
          <a:ln w="12700">
            <a:solidFill>
              <a:srgbClr val="000000"/>
            </a:solidFill>
            <a:tailEnd type="arrow"/>
          </a:ln>
        </p:spPr>
      </p:cxnSp>
      <p:cxnSp>
        <p:nvCxnSpPr>
          <p:cNvPr id="34" name="连接符 34"/>
          <p:cNvCxnSpPr/>
          <p:nvPr/>
        </p:nvCxnSpPr>
        <p:spPr>
          <a:xfrm>
            <a:off x="8618220" y="2368296"/>
            <a:ext cx="0" cy="23774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5" name="连接符 35"/>
          <p:cNvCxnSpPr/>
          <p:nvPr/>
        </p:nvCxnSpPr>
        <p:spPr>
          <a:xfrm>
            <a:off x="8618220" y="3575304"/>
            <a:ext cx="0" cy="374904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36" name="文本框 36"/>
          <p:cNvSpPr txBox="1"/>
          <p:nvPr/>
        </p:nvSpPr>
        <p:spPr>
          <a:xfrm>
            <a:off x="411480" y="6547104"/>
            <a:ext cx="1136904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750" dirty="0">
                <a:solidFill>
                  <a:srgbClr val="808080"/>
                </a:solidFill>
                <a:latin typeface="Arial"/>
                <a:ea typeface="微软雅黑"/>
              </a:rPr>
              <a:t>所有地图已对齐至参考 J41/volume · 手性检查: 3 个已翻正，10 个一致 · 视角 y-90 · CryoSmart Workflow Figure (ChimeraX aligned)</a:t>
            </a:r>
            <a:endParaRPr lang="zh-CN" altLang="en-US" sz="750">
              <a:latin typeface="Arial"/>
              <a:ea typeface="微软雅黑"/>
            </a:endParaRPr>
          </a:p>
        </p:txBody>
      </p:sp>
      <p:pic>
        <p:nvPicPr>
          <p:cNvPr id="37" name="CryoSmartImage:J31/volume_class_0" descr="image-J31_volume_class_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8" y="1353312"/>
            <a:ext cx="1444752" cy="722376"/>
          </a:xfrm>
          <a:prstGeom prst="rect">
            <a:avLst/>
          </a:prstGeom>
        </p:spPr>
      </p:pic>
      <p:pic>
        <p:nvPicPr>
          <p:cNvPr id="38" name="CryoSmartImage:J31/volume_class_1" descr="image-J31_volume_class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344" y="1353312"/>
            <a:ext cx="1444752" cy="722376"/>
          </a:xfrm>
          <a:prstGeom prst="rect">
            <a:avLst/>
          </a:prstGeom>
        </p:spPr>
      </p:pic>
      <p:pic>
        <p:nvPicPr>
          <p:cNvPr id="39" name="CryoSmartImage:J31/volume_class_2" descr="image-J31_volume_class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1353312"/>
            <a:ext cx="1444752" cy="722376"/>
          </a:xfrm>
          <a:prstGeom prst="rect">
            <a:avLst/>
          </a:prstGeom>
        </p:spPr>
      </p:pic>
      <p:pic>
        <p:nvPicPr>
          <p:cNvPr id="40" name="CryoSmartImage:J34/volume_class_0" descr="image-J34_volume_class_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288" y="2697480"/>
            <a:ext cx="1444752" cy="722376"/>
          </a:xfrm>
          <a:prstGeom prst="rect">
            <a:avLst/>
          </a:prstGeom>
        </p:spPr>
      </p:pic>
      <p:pic>
        <p:nvPicPr>
          <p:cNvPr id="41" name="CryoSmartImage:J34/volume_class_1" descr="image-J34_volume_class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344" y="2697480"/>
            <a:ext cx="1444752" cy="722376"/>
          </a:xfrm>
          <a:prstGeom prst="rect">
            <a:avLst/>
          </a:prstGeom>
        </p:spPr>
      </p:pic>
      <p:pic>
        <p:nvPicPr>
          <p:cNvPr id="42" name="CryoSmartImage:J34/volume_class_2" descr="image-J34_volume_class_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0" y="2697480"/>
            <a:ext cx="1444752" cy="722376"/>
          </a:xfrm>
          <a:prstGeom prst="rect">
            <a:avLst/>
          </a:prstGeom>
        </p:spPr>
      </p:pic>
      <p:pic>
        <p:nvPicPr>
          <p:cNvPr id="43" name="CryoSmartImage:J35/volume" descr="image-J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1284" y="4178808"/>
            <a:ext cx="1444752" cy="722376"/>
          </a:xfrm>
          <a:prstGeom prst="rect">
            <a:avLst/>
          </a:prstGeom>
        </p:spPr>
      </p:pic>
      <p:pic>
        <p:nvPicPr>
          <p:cNvPr id="44" name="CryoSmartImage:J37/volume" descr="image-J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1284" y="5522976"/>
            <a:ext cx="1444752" cy="722376"/>
          </a:xfrm>
          <a:prstGeom prst="rect">
            <a:avLst/>
          </a:prstGeom>
        </p:spPr>
      </p:pic>
      <p:pic>
        <p:nvPicPr>
          <p:cNvPr id="45" name="CryoSmartImage:J39/volume_class_0" descr="image-J39_volume_class_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4848" y="1353312"/>
            <a:ext cx="1444752" cy="722376"/>
          </a:xfrm>
          <a:prstGeom prst="rect">
            <a:avLst/>
          </a:prstGeom>
        </p:spPr>
      </p:pic>
      <p:pic>
        <p:nvPicPr>
          <p:cNvPr id="46" name="CryoSmartImage:J39/volume_class_1" descr="image-J39_volume_class_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5904" y="1353312"/>
            <a:ext cx="1444752" cy="722376"/>
          </a:xfrm>
          <a:prstGeom prst="rect">
            <a:avLst/>
          </a:prstGeom>
        </p:spPr>
      </p:pic>
      <p:pic>
        <p:nvPicPr>
          <p:cNvPr id="47" name="CryoSmartImage:J39/volume_class_2" descr="image-J39_volume_class_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6960" y="1353312"/>
            <a:ext cx="1444752" cy="722376"/>
          </a:xfrm>
          <a:prstGeom prst="rect">
            <a:avLst/>
          </a:prstGeom>
        </p:spPr>
      </p:pic>
      <p:pic>
        <p:nvPicPr>
          <p:cNvPr id="48" name="CryoSmartImage:J40/volume" descr="image-J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5844" y="2834640"/>
            <a:ext cx="1444752" cy="722376"/>
          </a:xfrm>
          <a:prstGeom prst="rect">
            <a:avLst/>
          </a:prstGeom>
        </p:spPr>
      </p:pic>
      <p:pic>
        <p:nvPicPr>
          <p:cNvPr id="49" name="CryoSmartImage:J41/volume" descr="image-J4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95844" y="4178808"/>
            <a:ext cx="1444752" cy="72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D9488"/>
      </a:accent1>
      <a:accent2>
        <a:srgbClr val="666666"/>
      </a:accent2>
      <a:accent3>
        <a:srgbClr val="999999"/>
      </a:accent3>
      <a:accent4>
        <a:srgbClr val="CCCCCC"/>
      </a:accent4>
      <a:accent5>
        <a:srgbClr val="333333"/>
      </a:accent5>
      <a:accent6>
        <a:srgbClr val="77777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</a:majorFont>
      <a:minorFont>
        <a:latin typeface="Arial"/>
        <a:ea typeface="微软雅黑"/>
      </a:minorFont>
    </a:fontScheme>
    <a:fmtScheme name="Offic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CryoSmart Lineage Tracer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CryoSmart Workflow P96 / J41</dc:title>
  <dc:creator>CryoSmart Lineage Tracer</dc:creator>
  <cp:lastModifiedBy>CryoSmart Lineage Tracer</cp:lastModifiedBy>
  <dcterms:created xsi:type="dcterms:W3CDTF">2026-10-29T08:27:05.789Z</dcterms:created>
  <dcterms:modified xsi:type="dcterms:W3CDTF">2026-10-29T08:27:05.789Z</dcterms:modified>
</cp:coreProperties>
</file>